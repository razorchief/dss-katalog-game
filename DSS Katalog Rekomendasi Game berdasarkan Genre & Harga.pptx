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ress Start 2P" charset="1" panose="00000500000000000000"/>
      <p:regular r:id="rId17"/>
    </p:embeddedFont>
    <p:embeddedFont>
      <p:font typeface="DM Sans" charset="1" panose="00000000000000000000"/>
      <p:regular r:id="rId18"/>
    </p:embeddedFont>
    <p:embeddedFont>
      <p:font typeface="DM Sans Bold" charset="1" panose="00000000000000000000"/>
      <p:regular r:id="rId19"/>
    </p:embeddedFont>
    <p:embeddedFont>
      <p:font typeface="Roboto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27.png" Type="http://schemas.openxmlformats.org/officeDocument/2006/relationships/image"/><Relationship Id="rId17" Target="../media/image28.svg" Type="http://schemas.openxmlformats.org/officeDocument/2006/relationships/image"/><Relationship Id="rId18" Target="../media/image29.png" Type="http://schemas.openxmlformats.org/officeDocument/2006/relationships/image"/><Relationship Id="rId19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16" Target="../media/image33.png" Type="http://schemas.openxmlformats.org/officeDocument/2006/relationships/image"/><Relationship Id="rId17" Target="../media/image34.svg" Type="http://schemas.openxmlformats.org/officeDocument/2006/relationships/image"/><Relationship Id="rId18" Target="../media/image35.png" Type="http://schemas.openxmlformats.org/officeDocument/2006/relationships/image"/><Relationship Id="rId19" Target="../media/image3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41.png" Type="http://schemas.openxmlformats.org/officeDocument/2006/relationships/image"/><Relationship Id="rId19" Target="../media/image42.svg" Type="http://schemas.openxmlformats.org/officeDocument/2006/relationships/image"/><Relationship Id="rId2" Target="../media/image1.png" Type="http://schemas.openxmlformats.org/officeDocument/2006/relationships/image"/><Relationship Id="rId20" Target="../media/image5.png" Type="http://schemas.openxmlformats.org/officeDocument/2006/relationships/image"/><Relationship Id="rId21" Target="../media/image6.svg" Type="http://schemas.openxmlformats.org/officeDocument/2006/relationships/image"/><Relationship Id="rId22" Target="../media/image43.png" Type="http://schemas.openxmlformats.org/officeDocument/2006/relationships/image"/><Relationship Id="rId23" Target="../media/image44.svg" Type="http://schemas.openxmlformats.org/officeDocument/2006/relationships/image"/><Relationship Id="rId24" Target="../media/image45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46.png" Type="http://schemas.openxmlformats.org/officeDocument/2006/relationships/image"/><Relationship Id="rId15" Target="../media/image4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50.png" Type="http://schemas.openxmlformats.org/officeDocument/2006/relationships/image"/><Relationship Id="rId13" Target="../media/image51.svg" Type="http://schemas.openxmlformats.org/officeDocument/2006/relationships/image"/><Relationship Id="rId14" Target="../media/image52.png" Type="http://schemas.openxmlformats.org/officeDocument/2006/relationships/image"/><Relationship Id="rId15" Target="../media/image53.svg" Type="http://schemas.openxmlformats.org/officeDocument/2006/relationships/image"/><Relationship Id="rId16" Target="../media/image54.jpeg" Type="http://schemas.openxmlformats.org/officeDocument/2006/relationships/image"/><Relationship Id="rId17" Target="../media/image55.png" Type="http://schemas.openxmlformats.org/officeDocument/2006/relationships/image"/><Relationship Id="rId18" Target="../media/image56.svg" Type="http://schemas.openxmlformats.org/officeDocument/2006/relationships/image"/><Relationship Id="rId19" Target="../media/image57.png" Type="http://schemas.openxmlformats.org/officeDocument/2006/relationships/image"/><Relationship Id="rId2" Target="../media/image1.png" Type="http://schemas.openxmlformats.org/officeDocument/2006/relationships/image"/><Relationship Id="rId20" Target="../media/image58.sv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59.png" Type="http://schemas.openxmlformats.org/officeDocument/2006/relationships/image"/><Relationship Id="rId17" Target="../media/image60.svg" Type="http://schemas.openxmlformats.org/officeDocument/2006/relationships/image"/><Relationship Id="rId18" Target="../media/image29.png" Type="http://schemas.openxmlformats.org/officeDocument/2006/relationships/image"/><Relationship Id="rId19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61.png" Type="http://schemas.openxmlformats.org/officeDocument/2006/relationships/image"/><Relationship Id="rId13" Target="../media/image6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55.png" Type="http://schemas.openxmlformats.org/officeDocument/2006/relationships/image"/><Relationship Id="rId15" Target="../media/image5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59.png" Type="http://schemas.openxmlformats.org/officeDocument/2006/relationships/image"/><Relationship Id="rId19" Target="../media/image6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63.png" Type="http://schemas.openxmlformats.org/officeDocument/2006/relationships/image"/><Relationship Id="rId13" Target="../media/image6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18" Target="../media/image21.png" Type="http://schemas.openxmlformats.org/officeDocument/2006/relationships/image"/><Relationship Id="rId19" Target="../media/image22.svg" Type="http://schemas.openxmlformats.org/officeDocument/2006/relationships/image"/><Relationship Id="rId2" Target="../media/image1.png" Type="http://schemas.openxmlformats.org/officeDocument/2006/relationships/image"/><Relationship Id="rId20" Target="../media/image25.png" Type="http://schemas.openxmlformats.org/officeDocument/2006/relationships/image"/><Relationship Id="rId21" Target="../media/image26.svg" Type="http://schemas.openxmlformats.org/officeDocument/2006/relationships/image"/><Relationship Id="rId3" Target="../media/image2.svg" Type="http://schemas.openxmlformats.org/officeDocument/2006/relationships/image"/><Relationship Id="rId4" Target="../media/image65.png" Type="http://schemas.openxmlformats.org/officeDocument/2006/relationships/image"/><Relationship Id="rId5" Target="../media/image66.sv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23418" y="-6791361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9776" y="-6838944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55820" y="7721836"/>
            <a:ext cx="4475679" cy="1155539"/>
          </a:xfrm>
          <a:custGeom>
            <a:avLst/>
            <a:gdLst/>
            <a:ahLst/>
            <a:cxnLst/>
            <a:rect r="r" b="b" t="t" l="l"/>
            <a:pathLst>
              <a:path h="1155539" w="4475679">
                <a:moveTo>
                  <a:pt x="0" y="0"/>
                </a:moveTo>
                <a:lnTo>
                  <a:pt x="4475678" y="0"/>
                </a:lnTo>
                <a:lnTo>
                  <a:pt x="4475678" y="1155539"/>
                </a:lnTo>
                <a:lnTo>
                  <a:pt x="0" y="1155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40683" y="7721836"/>
            <a:ext cx="4475679" cy="1155539"/>
          </a:xfrm>
          <a:custGeom>
            <a:avLst/>
            <a:gdLst/>
            <a:ahLst/>
            <a:cxnLst/>
            <a:rect r="r" b="b" t="t" l="l"/>
            <a:pathLst>
              <a:path h="1155539" w="4475679">
                <a:moveTo>
                  <a:pt x="0" y="0"/>
                </a:moveTo>
                <a:lnTo>
                  <a:pt x="4475679" y="0"/>
                </a:lnTo>
                <a:lnTo>
                  <a:pt x="4475679" y="1155539"/>
                </a:lnTo>
                <a:lnTo>
                  <a:pt x="0" y="1155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6004" y="563032"/>
            <a:ext cx="3397289" cy="1538045"/>
          </a:xfrm>
          <a:custGeom>
            <a:avLst/>
            <a:gdLst/>
            <a:ahLst/>
            <a:cxnLst/>
            <a:rect r="r" b="b" t="t" l="l"/>
            <a:pathLst>
              <a:path h="1538045" w="3397289">
                <a:moveTo>
                  <a:pt x="0" y="0"/>
                </a:moveTo>
                <a:lnTo>
                  <a:pt x="3397288" y="0"/>
                </a:lnTo>
                <a:lnTo>
                  <a:pt x="3397288" y="1538046"/>
                </a:lnTo>
                <a:lnTo>
                  <a:pt x="0" y="15380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3574708" y="563032"/>
            <a:ext cx="3397289" cy="1538045"/>
          </a:xfrm>
          <a:custGeom>
            <a:avLst/>
            <a:gdLst/>
            <a:ahLst/>
            <a:cxnLst/>
            <a:rect r="r" b="b" t="t" l="l"/>
            <a:pathLst>
              <a:path h="1538045" w="3397289">
                <a:moveTo>
                  <a:pt x="3397288" y="0"/>
                </a:moveTo>
                <a:lnTo>
                  <a:pt x="0" y="0"/>
                </a:lnTo>
                <a:lnTo>
                  <a:pt x="0" y="1538046"/>
                </a:lnTo>
                <a:lnTo>
                  <a:pt x="3397288" y="1538046"/>
                </a:lnTo>
                <a:lnTo>
                  <a:pt x="339728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963551" y="4138388"/>
            <a:ext cx="4234231" cy="4487143"/>
          </a:xfrm>
          <a:custGeom>
            <a:avLst/>
            <a:gdLst/>
            <a:ahLst/>
            <a:cxnLst/>
            <a:rect r="r" b="b" t="t" l="l"/>
            <a:pathLst>
              <a:path h="4487143" w="4234231">
                <a:moveTo>
                  <a:pt x="4234230" y="0"/>
                </a:moveTo>
                <a:lnTo>
                  <a:pt x="0" y="0"/>
                </a:lnTo>
                <a:lnTo>
                  <a:pt x="0" y="4487143"/>
                </a:lnTo>
                <a:lnTo>
                  <a:pt x="4234230" y="4487143"/>
                </a:lnTo>
                <a:lnTo>
                  <a:pt x="423423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017321" y="4138388"/>
            <a:ext cx="4234231" cy="4487143"/>
          </a:xfrm>
          <a:custGeom>
            <a:avLst/>
            <a:gdLst/>
            <a:ahLst/>
            <a:cxnLst/>
            <a:rect r="r" b="b" t="t" l="l"/>
            <a:pathLst>
              <a:path h="4487143" w="4234231">
                <a:moveTo>
                  <a:pt x="0" y="0"/>
                </a:moveTo>
                <a:lnTo>
                  <a:pt x="4234230" y="0"/>
                </a:lnTo>
                <a:lnTo>
                  <a:pt x="4234230" y="4487143"/>
                </a:lnTo>
                <a:lnTo>
                  <a:pt x="0" y="44871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9414837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74112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39776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713888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86506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05705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453259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141036" y="8372178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195145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764329" y="8372178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572309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424708" y="7836224"/>
            <a:ext cx="3226307" cy="1531029"/>
          </a:xfrm>
          <a:custGeom>
            <a:avLst/>
            <a:gdLst/>
            <a:ahLst/>
            <a:cxnLst/>
            <a:rect r="r" b="b" t="t" l="l"/>
            <a:pathLst>
              <a:path h="1531029" w="3226307">
                <a:moveTo>
                  <a:pt x="0" y="0"/>
                </a:moveTo>
                <a:lnTo>
                  <a:pt x="3226308" y="0"/>
                </a:lnTo>
                <a:lnTo>
                  <a:pt x="3226308" y="1531030"/>
                </a:lnTo>
                <a:lnTo>
                  <a:pt x="0" y="15310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636984" y="7883807"/>
            <a:ext cx="3226307" cy="1531029"/>
          </a:xfrm>
          <a:custGeom>
            <a:avLst/>
            <a:gdLst/>
            <a:ahLst/>
            <a:cxnLst/>
            <a:rect r="r" b="b" t="t" l="l"/>
            <a:pathLst>
              <a:path h="1531029" w="3226307">
                <a:moveTo>
                  <a:pt x="0" y="0"/>
                </a:moveTo>
                <a:lnTo>
                  <a:pt x="3226308" y="0"/>
                </a:lnTo>
                <a:lnTo>
                  <a:pt x="3226308" y="1531030"/>
                </a:lnTo>
                <a:lnTo>
                  <a:pt x="0" y="15310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349003" y="475392"/>
            <a:ext cx="3179988" cy="1439667"/>
          </a:xfrm>
          <a:custGeom>
            <a:avLst/>
            <a:gdLst/>
            <a:ahLst/>
            <a:cxnLst/>
            <a:rect r="r" b="b" t="t" l="l"/>
            <a:pathLst>
              <a:path h="1439667" w="3179988">
                <a:moveTo>
                  <a:pt x="0" y="0"/>
                </a:moveTo>
                <a:lnTo>
                  <a:pt x="3179988" y="0"/>
                </a:lnTo>
                <a:lnTo>
                  <a:pt x="3179988" y="1439667"/>
                </a:lnTo>
                <a:lnTo>
                  <a:pt x="0" y="1439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759009" y="475392"/>
            <a:ext cx="3179988" cy="1439667"/>
          </a:xfrm>
          <a:custGeom>
            <a:avLst/>
            <a:gdLst/>
            <a:ahLst/>
            <a:cxnLst/>
            <a:rect r="r" b="b" t="t" l="l"/>
            <a:pathLst>
              <a:path h="1439667" w="3179988">
                <a:moveTo>
                  <a:pt x="0" y="0"/>
                </a:moveTo>
                <a:lnTo>
                  <a:pt x="3179988" y="0"/>
                </a:lnTo>
                <a:lnTo>
                  <a:pt x="3179988" y="1439667"/>
                </a:lnTo>
                <a:lnTo>
                  <a:pt x="0" y="14396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0">
            <a:off x="-1239953" y="2823109"/>
            <a:ext cx="3959812" cy="964754"/>
          </a:xfrm>
          <a:custGeom>
            <a:avLst/>
            <a:gdLst/>
            <a:ahLst/>
            <a:cxnLst/>
            <a:rect r="r" b="b" t="t" l="l"/>
            <a:pathLst>
              <a:path h="964754" w="3959812">
                <a:moveTo>
                  <a:pt x="3959811" y="0"/>
                </a:moveTo>
                <a:lnTo>
                  <a:pt x="0" y="0"/>
                </a:lnTo>
                <a:lnTo>
                  <a:pt x="0" y="964754"/>
                </a:lnTo>
                <a:lnTo>
                  <a:pt x="3959811" y="964754"/>
                </a:lnTo>
                <a:lnTo>
                  <a:pt x="3959811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15563850" y="2823109"/>
            <a:ext cx="3959812" cy="964754"/>
          </a:xfrm>
          <a:custGeom>
            <a:avLst/>
            <a:gdLst/>
            <a:ahLst/>
            <a:cxnLst/>
            <a:rect r="r" b="b" t="t" l="l"/>
            <a:pathLst>
              <a:path h="964754" w="3959812">
                <a:moveTo>
                  <a:pt x="3959812" y="0"/>
                </a:moveTo>
                <a:lnTo>
                  <a:pt x="0" y="0"/>
                </a:lnTo>
                <a:lnTo>
                  <a:pt x="0" y="964754"/>
                </a:lnTo>
                <a:lnTo>
                  <a:pt x="3959812" y="964754"/>
                </a:lnTo>
                <a:lnTo>
                  <a:pt x="3959812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982643" y="3610198"/>
            <a:ext cx="14728038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DSS KATALOG REKOMENDASI GAME </a:t>
            </a:r>
          </a:p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BERDASARKAN GENRE &amp; HARGA</a:t>
            </a:r>
          </a:p>
        </p:txBody>
      </p:sp>
      <p:sp>
        <p:nvSpPr>
          <p:cNvPr name="Freeform 28" id="28"/>
          <p:cNvSpPr/>
          <p:nvPr/>
        </p:nvSpPr>
        <p:spPr>
          <a:xfrm flipH="true" flipV="false" rot="0">
            <a:off x="12538641" y="1748328"/>
            <a:ext cx="1423271" cy="1423271"/>
          </a:xfrm>
          <a:custGeom>
            <a:avLst/>
            <a:gdLst/>
            <a:ahLst/>
            <a:cxnLst/>
            <a:rect r="r" b="b" t="t" l="l"/>
            <a:pathLst>
              <a:path h="1423271" w="1423271">
                <a:moveTo>
                  <a:pt x="1423271" y="0"/>
                </a:moveTo>
                <a:lnTo>
                  <a:pt x="0" y="0"/>
                </a:lnTo>
                <a:lnTo>
                  <a:pt x="0" y="1423271"/>
                </a:lnTo>
                <a:lnTo>
                  <a:pt x="1423271" y="1423271"/>
                </a:lnTo>
                <a:lnTo>
                  <a:pt x="1423271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53325" y="1882215"/>
            <a:ext cx="1423271" cy="1423271"/>
          </a:xfrm>
          <a:custGeom>
            <a:avLst/>
            <a:gdLst/>
            <a:ahLst/>
            <a:cxnLst/>
            <a:rect r="r" b="b" t="t" l="l"/>
            <a:pathLst>
              <a:path h="1423271" w="1423271">
                <a:moveTo>
                  <a:pt x="0" y="0"/>
                </a:moveTo>
                <a:lnTo>
                  <a:pt x="1423272" y="0"/>
                </a:lnTo>
                <a:lnTo>
                  <a:pt x="1423272" y="1423271"/>
                </a:lnTo>
                <a:lnTo>
                  <a:pt x="0" y="142327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394903" y="6788499"/>
            <a:ext cx="1387839" cy="2578755"/>
          </a:xfrm>
          <a:custGeom>
            <a:avLst/>
            <a:gdLst/>
            <a:ahLst/>
            <a:cxnLst/>
            <a:rect r="r" b="b" t="t" l="l"/>
            <a:pathLst>
              <a:path h="2578755" w="1387839">
                <a:moveTo>
                  <a:pt x="0" y="0"/>
                </a:moveTo>
                <a:lnTo>
                  <a:pt x="1387839" y="0"/>
                </a:lnTo>
                <a:lnTo>
                  <a:pt x="1387839" y="2578755"/>
                </a:lnTo>
                <a:lnTo>
                  <a:pt x="0" y="257875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161696" y="6844530"/>
            <a:ext cx="1387839" cy="2578755"/>
          </a:xfrm>
          <a:custGeom>
            <a:avLst/>
            <a:gdLst/>
            <a:ahLst/>
            <a:cxnLst/>
            <a:rect r="r" b="b" t="t" l="l"/>
            <a:pathLst>
              <a:path h="2578755" w="1387839">
                <a:moveTo>
                  <a:pt x="0" y="0"/>
                </a:moveTo>
                <a:lnTo>
                  <a:pt x="1387839" y="0"/>
                </a:lnTo>
                <a:lnTo>
                  <a:pt x="1387839" y="2578755"/>
                </a:lnTo>
                <a:lnTo>
                  <a:pt x="0" y="257875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278042" y="6836082"/>
            <a:ext cx="1387839" cy="2578755"/>
          </a:xfrm>
          <a:custGeom>
            <a:avLst/>
            <a:gdLst/>
            <a:ahLst/>
            <a:cxnLst/>
            <a:rect r="r" b="b" t="t" l="l"/>
            <a:pathLst>
              <a:path h="2578755" w="1387839">
                <a:moveTo>
                  <a:pt x="0" y="0"/>
                </a:moveTo>
                <a:lnTo>
                  <a:pt x="1387839" y="0"/>
                </a:lnTo>
                <a:lnTo>
                  <a:pt x="1387839" y="2578755"/>
                </a:lnTo>
                <a:lnTo>
                  <a:pt x="0" y="257875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262312" y="2383763"/>
            <a:ext cx="1203249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STRUKTUR DATA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056279" y="6183522"/>
            <a:ext cx="206508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BAGAS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38997" y="6183522"/>
            <a:ext cx="206508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RYAN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939418" y="6183522"/>
            <a:ext cx="206508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MAHESA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23418" y="-6791361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9776" y="-6838944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39953" y="463426"/>
            <a:ext cx="2497196" cy="1130549"/>
          </a:xfrm>
          <a:custGeom>
            <a:avLst/>
            <a:gdLst/>
            <a:ahLst/>
            <a:cxnLst/>
            <a:rect r="r" b="b" t="t" l="l"/>
            <a:pathLst>
              <a:path h="1130549" w="2497196">
                <a:moveTo>
                  <a:pt x="0" y="0"/>
                </a:moveTo>
                <a:lnTo>
                  <a:pt x="2497195" y="0"/>
                </a:lnTo>
                <a:lnTo>
                  <a:pt x="2497195" y="1130548"/>
                </a:lnTo>
                <a:lnTo>
                  <a:pt x="0" y="1130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9414837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74112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39776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13888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86506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05705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53259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41036" y="8372178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95145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64329" y="8372178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572309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79281" y="7883807"/>
            <a:ext cx="3226307" cy="1531029"/>
          </a:xfrm>
          <a:custGeom>
            <a:avLst/>
            <a:gdLst/>
            <a:ahLst/>
            <a:cxnLst/>
            <a:rect r="r" b="b" t="t" l="l"/>
            <a:pathLst>
              <a:path h="1531029" w="3226307">
                <a:moveTo>
                  <a:pt x="0" y="0"/>
                </a:moveTo>
                <a:lnTo>
                  <a:pt x="3226307" y="0"/>
                </a:lnTo>
                <a:lnTo>
                  <a:pt x="3226307" y="1531030"/>
                </a:lnTo>
                <a:lnTo>
                  <a:pt x="0" y="1531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-1827518" y="2834810"/>
            <a:ext cx="4598052" cy="1120253"/>
          </a:xfrm>
          <a:custGeom>
            <a:avLst/>
            <a:gdLst/>
            <a:ahLst/>
            <a:cxnLst/>
            <a:rect r="r" b="b" t="t" l="l"/>
            <a:pathLst>
              <a:path h="1120253" w="4598052">
                <a:moveTo>
                  <a:pt x="4598052" y="0"/>
                </a:moveTo>
                <a:lnTo>
                  <a:pt x="0" y="0"/>
                </a:lnTo>
                <a:lnTo>
                  <a:pt x="0" y="1120253"/>
                </a:lnTo>
                <a:lnTo>
                  <a:pt x="4598052" y="1120253"/>
                </a:lnTo>
                <a:lnTo>
                  <a:pt x="459805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78475" y="4511763"/>
            <a:ext cx="5236292" cy="4903074"/>
          </a:xfrm>
          <a:custGeom>
            <a:avLst/>
            <a:gdLst/>
            <a:ahLst/>
            <a:cxnLst/>
            <a:rect r="r" b="b" t="t" l="l"/>
            <a:pathLst>
              <a:path h="4903074" w="5236292">
                <a:moveTo>
                  <a:pt x="0" y="0"/>
                </a:moveTo>
                <a:lnTo>
                  <a:pt x="5236292" y="0"/>
                </a:lnTo>
                <a:lnTo>
                  <a:pt x="5236292" y="4903074"/>
                </a:lnTo>
                <a:lnTo>
                  <a:pt x="0" y="490307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955861" y="1111597"/>
            <a:ext cx="3959812" cy="964754"/>
          </a:xfrm>
          <a:custGeom>
            <a:avLst/>
            <a:gdLst/>
            <a:ahLst/>
            <a:cxnLst/>
            <a:rect r="r" b="b" t="t" l="l"/>
            <a:pathLst>
              <a:path h="964754" w="3959812">
                <a:moveTo>
                  <a:pt x="0" y="0"/>
                </a:moveTo>
                <a:lnTo>
                  <a:pt x="3959812" y="0"/>
                </a:lnTo>
                <a:lnTo>
                  <a:pt x="3959812" y="964754"/>
                </a:lnTo>
                <a:lnTo>
                  <a:pt x="0" y="9647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711413" y="1641599"/>
            <a:ext cx="890931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</a:pPr>
            <a:r>
              <a:rPr lang="en-US" sz="4499" spc="-4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DAFTAR ISI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22829" y="2912214"/>
            <a:ext cx="4086485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1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 Studi Kasus</a:t>
            </a:r>
          </a:p>
          <a:p>
            <a:pPr algn="ctr">
              <a:lnSpc>
                <a:spcPts val="3499"/>
              </a:lnSpc>
            </a:pPr>
            <a:r>
              <a:rPr lang="en-US" sz="2499" spc="1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2. Model Graph</a:t>
            </a:r>
          </a:p>
          <a:p>
            <a:pPr algn="ctr">
              <a:lnSpc>
                <a:spcPts val="3499"/>
              </a:lnSpc>
            </a:pPr>
            <a:r>
              <a:rPr lang="en-US" sz="2499" spc="1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3. Algoritma yang Digunakan</a:t>
            </a:r>
          </a:p>
          <a:p>
            <a:pPr algn="ctr">
              <a:lnSpc>
                <a:spcPts val="3499"/>
              </a:lnSpc>
            </a:pPr>
            <a:r>
              <a:rPr lang="en-US" sz="2499" spc="1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4. Perancangan Sistem</a:t>
            </a:r>
          </a:p>
          <a:p>
            <a:pPr algn="ctr">
              <a:lnSpc>
                <a:spcPts val="3499"/>
              </a:lnSpc>
            </a:pPr>
            <a:r>
              <a:rPr lang="en-US" sz="2499" spc="1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5. Demo Sistem</a:t>
            </a:r>
          </a:p>
          <a:p>
            <a:pPr algn="ctr">
              <a:lnSpc>
                <a:spcPts val="3499"/>
              </a:lnSpc>
            </a:pPr>
            <a:r>
              <a:rPr lang="en-US" sz="2499" spc="1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6. Hasil Analisis</a:t>
            </a:r>
          </a:p>
          <a:p>
            <a:pPr algn="ctr">
              <a:lnSpc>
                <a:spcPts val="3499"/>
              </a:lnSpc>
            </a:pPr>
            <a:r>
              <a:rPr lang="en-US" sz="2499" spc="1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7. Kendala dan Solusi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1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8. Kesimpulan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808167" y="6990887"/>
            <a:ext cx="1110058" cy="2432398"/>
          </a:xfrm>
          <a:custGeom>
            <a:avLst/>
            <a:gdLst/>
            <a:ahLst/>
            <a:cxnLst/>
            <a:rect r="r" b="b" t="t" l="l"/>
            <a:pathLst>
              <a:path h="2432398" w="1110058">
                <a:moveTo>
                  <a:pt x="0" y="0"/>
                </a:moveTo>
                <a:lnTo>
                  <a:pt x="1110058" y="0"/>
                </a:lnTo>
                <a:lnTo>
                  <a:pt x="1110058" y="2432398"/>
                </a:lnTo>
                <a:lnTo>
                  <a:pt x="0" y="24323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23418" y="-6791361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9776" y="-6838944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42522" y="564354"/>
            <a:ext cx="2210639" cy="1000817"/>
          </a:xfrm>
          <a:custGeom>
            <a:avLst/>
            <a:gdLst/>
            <a:ahLst/>
            <a:cxnLst/>
            <a:rect r="r" b="b" t="t" l="l"/>
            <a:pathLst>
              <a:path h="1000817" w="2210639">
                <a:moveTo>
                  <a:pt x="0" y="0"/>
                </a:moveTo>
                <a:lnTo>
                  <a:pt x="2210639" y="0"/>
                </a:lnTo>
                <a:lnTo>
                  <a:pt x="2210639" y="1000817"/>
                </a:lnTo>
                <a:lnTo>
                  <a:pt x="0" y="1000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9414837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74112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39776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13888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86506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05705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53259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41036" y="8372178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95145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764329" y="8372178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572309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1753161" y="2716036"/>
            <a:ext cx="3568101" cy="869319"/>
          </a:xfrm>
          <a:custGeom>
            <a:avLst/>
            <a:gdLst/>
            <a:ahLst/>
            <a:cxnLst/>
            <a:rect r="r" b="b" t="t" l="l"/>
            <a:pathLst>
              <a:path h="869319" w="3568101">
                <a:moveTo>
                  <a:pt x="3568101" y="0"/>
                </a:moveTo>
                <a:lnTo>
                  <a:pt x="0" y="0"/>
                </a:lnTo>
                <a:lnTo>
                  <a:pt x="0" y="869319"/>
                </a:lnTo>
                <a:lnTo>
                  <a:pt x="3568101" y="869319"/>
                </a:lnTo>
                <a:lnTo>
                  <a:pt x="356810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776699" y="564354"/>
            <a:ext cx="3959812" cy="964754"/>
          </a:xfrm>
          <a:custGeom>
            <a:avLst/>
            <a:gdLst/>
            <a:ahLst/>
            <a:cxnLst/>
            <a:rect r="r" b="b" t="t" l="l"/>
            <a:pathLst>
              <a:path h="964754" w="3959812">
                <a:moveTo>
                  <a:pt x="0" y="0"/>
                </a:moveTo>
                <a:lnTo>
                  <a:pt x="3959812" y="0"/>
                </a:lnTo>
                <a:lnTo>
                  <a:pt x="3959812" y="964754"/>
                </a:lnTo>
                <a:lnTo>
                  <a:pt x="0" y="9647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391409" y="4321609"/>
            <a:ext cx="5093228" cy="5093228"/>
          </a:xfrm>
          <a:custGeom>
            <a:avLst/>
            <a:gdLst/>
            <a:ahLst/>
            <a:cxnLst/>
            <a:rect r="r" b="b" t="t" l="l"/>
            <a:pathLst>
              <a:path h="5093228" w="5093228">
                <a:moveTo>
                  <a:pt x="0" y="0"/>
                </a:moveTo>
                <a:lnTo>
                  <a:pt x="5093228" y="0"/>
                </a:lnTo>
                <a:lnTo>
                  <a:pt x="5093228" y="5093228"/>
                </a:lnTo>
                <a:lnTo>
                  <a:pt x="0" y="50932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01213" y="1443383"/>
            <a:ext cx="8117012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</a:pPr>
            <a:r>
              <a:rPr lang="en-US" sz="4499" spc="-4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STUDI KASUS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1213" y="2584008"/>
            <a:ext cx="8342787" cy="457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Permasalahan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Pengguna sering mengalami kesulitan dalam memilih game karena: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* Banyaknya pilihan game yang tersedia.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* Genre yang sangat beragam.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* Harga game yang berbeda-beda.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* Pengguna memiliki budget tertentu.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Solusi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Membangun Decision Support System (DSS) yang dapat memberikan rekomendasi game berdasarkan: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* Genre yang disukai.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* Rentang harga yang dimiliki pengguna.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768587" y="7514783"/>
            <a:ext cx="984573" cy="1900054"/>
          </a:xfrm>
          <a:custGeom>
            <a:avLst/>
            <a:gdLst/>
            <a:ahLst/>
            <a:cxnLst/>
            <a:rect r="r" b="b" t="t" l="l"/>
            <a:pathLst>
              <a:path h="1900054" w="984573">
                <a:moveTo>
                  <a:pt x="0" y="0"/>
                </a:moveTo>
                <a:lnTo>
                  <a:pt x="984574" y="0"/>
                </a:lnTo>
                <a:lnTo>
                  <a:pt x="984574" y="1900054"/>
                </a:lnTo>
                <a:lnTo>
                  <a:pt x="0" y="190005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9740152" y="8380836"/>
            <a:ext cx="955263" cy="1042450"/>
          </a:xfrm>
          <a:custGeom>
            <a:avLst/>
            <a:gdLst/>
            <a:ahLst/>
            <a:cxnLst/>
            <a:rect r="r" b="b" t="t" l="l"/>
            <a:pathLst>
              <a:path h="1042450" w="955263">
                <a:moveTo>
                  <a:pt x="955263" y="0"/>
                </a:moveTo>
                <a:lnTo>
                  <a:pt x="0" y="0"/>
                </a:lnTo>
                <a:lnTo>
                  <a:pt x="0" y="1042449"/>
                </a:lnTo>
                <a:lnTo>
                  <a:pt x="955263" y="1042449"/>
                </a:lnTo>
                <a:lnTo>
                  <a:pt x="955263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23418" y="-6791361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9776" y="-6838944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414837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74112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39776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13888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99775" y="4933183"/>
            <a:ext cx="4158275" cy="3750008"/>
          </a:xfrm>
          <a:custGeom>
            <a:avLst/>
            <a:gdLst/>
            <a:ahLst/>
            <a:cxnLst/>
            <a:rect r="r" b="b" t="t" l="l"/>
            <a:pathLst>
              <a:path h="3750008" w="4158275">
                <a:moveTo>
                  <a:pt x="0" y="0"/>
                </a:moveTo>
                <a:lnTo>
                  <a:pt x="4158274" y="0"/>
                </a:lnTo>
                <a:lnTo>
                  <a:pt x="4158274" y="3750008"/>
                </a:lnTo>
                <a:lnTo>
                  <a:pt x="0" y="37500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76943" y="7451924"/>
            <a:ext cx="579662" cy="1265135"/>
          </a:xfrm>
          <a:custGeom>
            <a:avLst/>
            <a:gdLst/>
            <a:ahLst/>
            <a:cxnLst/>
            <a:rect r="r" b="b" t="t" l="l"/>
            <a:pathLst>
              <a:path h="1265135" w="579662">
                <a:moveTo>
                  <a:pt x="0" y="0"/>
                </a:moveTo>
                <a:lnTo>
                  <a:pt x="579662" y="0"/>
                </a:lnTo>
                <a:lnTo>
                  <a:pt x="579662" y="1265136"/>
                </a:lnTo>
                <a:lnTo>
                  <a:pt x="0" y="12651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586506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05705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453259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41036" y="8372178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195145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764329" y="8372178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572309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-940102" y="3453074"/>
            <a:ext cx="3568101" cy="869319"/>
          </a:xfrm>
          <a:custGeom>
            <a:avLst/>
            <a:gdLst/>
            <a:ahLst/>
            <a:cxnLst/>
            <a:rect r="r" b="b" t="t" l="l"/>
            <a:pathLst>
              <a:path h="869319" w="3568101">
                <a:moveTo>
                  <a:pt x="3568101" y="0"/>
                </a:moveTo>
                <a:lnTo>
                  <a:pt x="0" y="0"/>
                </a:lnTo>
                <a:lnTo>
                  <a:pt x="0" y="869319"/>
                </a:lnTo>
                <a:lnTo>
                  <a:pt x="3568101" y="869319"/>
                </a:lnTo>
                <a:lnTo>
                  <a:pt x="356810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919360" y="3840016"/>
            <a:ext cx="3959812" cy="964754"/>
          </a:xfrm>
          <a:custGeom>
            <a:avLst/>
            <a:gdLst/>
            <a:ahLst/>
            <a:cxnLst/>
            <a:rect r="r" b="b" t="t" l="l"/>
            <a:pathLst>
              <a:path h="964754" w="3959812">
                <a:moveTo>
                  <a:pt x="0" y="0"/>
                </a:moveTo>
                <a:lnTo>
                  <a:pt x="3959812" y="0"/>
                </a:lnTo>
                <a:lnTo>
                  <a:pt x="3959812" y="964755"/>
                </a:lnTo>
                <a:lnTo>
                  <a:pt x="0" y="9647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773125" y="7883807"/>
            <a:ext cx="3226307" cy="1531029"/>
          </a:xfrm>
          <a:custGeom>
            <a:avLst/>
            <a:gdLst/>
            <a:ahLst/>
            <a:cxnLst/>
            <a:rect r="r" b="b" t="t" l="l"/>
            <a:pathLst>
              <a:path h="1531029" w="3226307">
                <a:moveTo>
                  <a:pt x="0" y="0"/>
                </a:moveTo>
                <a:lnTo>
                  <a:pt x="3226307" y="0"/>
                </a:lnTo>
                <a:lnTo>
                  <a:pt x="3226307" y="1531030"/>
                </a:lnTo>
                <a:lnTo>
                  <a:pt x="0" y="15310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869598" y="8084492"/>
            <a:ext cx="1033361" cy="668867"/>
          </a:xfrm>
          <a:custGeom>
            <a:avLst/>
            <a:gdLst/>
            <a:ahLst/>
            <a:cxnLst/>
            <a:rect r="r" b="b" t="t" l="l"/>
            <a:pathLst>
              <a:path h="668867" w="1033361">
                <a:moveTo>
                  <a:pt x="0" y="0"/>
                </a:moveTo>
                <a:lnTo>
                  <a:pt x="1033361" y="0"/>
                </a:lnTo>
                <a:lnTo>
                  <a:pt x="1033361" y="668867"/>
                </a:lnTo>
                <a:lnTo>
                  <a:pt x="0" y="66886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28093" y="1028700"/>
            <a:ext cx="2210639" cy="1000817"/>
          </a:xfrm>
          <a:custGeom>
            <a:avLst/>
            <a:gdLst/>
            <a:ahLst/>
            <a:cxnLst/>
            <a:rect r="r" b="b" t="t" l="l"/>
            <a:pathLst>
              <a:path h="1000817" w="2210639">
                <a:moveTo>
                  <a:pt x="0" y="0"/>
                </a:moveTo>
                <a:lnTo>
                  <a:pt x="2210640" y="0"/>
                </a:lnTo>
                <a:lnTo>
                  <a:pt x="2210640" y="1000817"/>
                </a:lnTo>
                <a:lnTo>
                  <a:pt x="0" y="100081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141541" y="1028700"/>
            <a:ext cx="2210639" cy="1000817"/>
          </a:xfrm>
          <a:custGeom>
            <a:avLst/>
            <a:gdLst/>
            <a:ahLst/>
            <a:cxnLst/>
            <a:rect r="r" b="b" t="t" l="l"/>
            <a:pathLst>
              <a:path h="1000817" w="2210639">
                <a:moveTo>
                  <a:pt x="0" y="0"/>
                </a:moveTo>
                <a:lnTo>
                  <a:pt x="2210639" y="0"/>
                </a:lnTo>
                <a:lnTo>
                  <a:pt x="2210639" y="1000817"/>
                </a:lnTo>
                <a:lnTo>
                  <a:pt x="0" y="100081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935213" y="528292"/>
            <a:ext cx="2210639" cy="1000817"/>
          </a:xfrm>
          <a:custGeom>
            <a:avLst/>
            <a:gdLst/>
            <a:ahLst/>
            <a:cxnLst/>
            <a:rect r="r" b="b" t="t" l="l"/>
            <a:pathLst>
              <a:path h="1000817" w="2210639">
                <a:moveTo>
                  <a:pt x="0" y="0"/>
                </a:moveTo>
                <a:lnTo>
                  <a:pt x="2210640" y="0"/>
                </a:lnTo>
                <a:lnTo>
                  <a:pt x="2210640" y="1000816"/>
                </a:lnTo>
                <a:lnTo>
                  <a:pt x="0" y="100081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048661" y="528292"/>
            <a:ext cx="2210639" cy="1000817"/>
          </a:xfrm>
          <a:custGeom>
            <a:avLst/>
            <a:gdLst/>
            <a:ahLst/>
            <a:cxnLst/>
            <a:rect r="r" b="b" t="t" l="l"/>
            <a:pathLst>
              <a:path h="1000817" w="2210639">
                <a:moveTo>
                  <a:pt x="0" y="0"/>
                </a:moveTo>
                <a:lnTo>
                  <a:pt x="2210639" y="0"/>
                </a:lnTo>
                <a:lnTo>
                  <a:pt x="2210639" y="1000816"/>
                </a:lnTo>
                <a:lnTo>
                  <a:pt x="0" y="100081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489418" y="8252389"/>
            <a:ext cx="646744" cy="1162448"/>
          </a:xfrm>
          <a:custGeom>
            <a:avLst/>
            <a:gdLst/>
            <a:ahLst/>
            <a:cxnLst/>
            <a:rect r="r" b="b" t="t" l="l"/>
            <a:pathLst>
              <a:path h="1162448" w="646744">
                <a:moveTo>
                  <a:pt x="0" y="0"/>
                </a:moveTo>
                <a:lnTo>
                  <a:pt x="646744" y="0"/>
                </a:lnTo>
                <a:lnTo>
                  <a:pt x="646744" y="1162448"/>
                </a:lnTo>
                <a:lnTo>
                  <a:pt x="0" y="116244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17122761" y="7418055"/>
            <a:ext cx="579662" cy="1265135"/>
          </a:xfrm>
          <a:custGeom>
            <a:avLst/>
            <a:gdLst/>
            <a:ahLst/>
            <a:cxnLst/>
            <a:rect r="r" b="b" t="t" l="l"/>
            <a:pathLst>
              <a:path h="1265135" w="579662">
                <a:moveTo>
                  <a:pt x="579662" y="0"/>
                </a:moveTo>
                <a:lnTo>
                  <a:pt x="0" y="0"/>
                </a:lnTo>
                <a:lnTo>
                  <a:pt x="0" y="1265136"/>
                </a:lnTo>
                <a:lnTo>
                  <a:pt x="579662" y="1265136"/>
                </a:lnTo>
                <a:lnTo>
                  <a:pt x="57966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471921" y="1926542"/>
            <a:ext cx="9284684" cy="7099310"/>
          </a:xfrm>
          <a:custGeom>
            <a:avLst/>
            <a:gdLst/>
            <a:ahLst/>
            <a:cxnLst/>
            <a:rect r="r" b="b" t="t" l="l"/>
            <a:pathLst>
              <a:path h="7099310" w="9284684">
                <a:moveTo>
                  <a:pt x="0" y="0"/>
                </a:moveTo>
                <a:lnTo>
                  <a:pt x="9284684" y="0"/>
                </a:lnTo>
                <a:lnTo>
                  <a:pt x="9284684" y="7099310"/>
                </a:lnTo>
                <a:lnTo>
                  <a:pt x="0" y="709931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039039" y="505118"/>
            <a:ext cx="9322763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</a:pPr>
            <a:r>
              <a:rPr lang="en-US" sz="4499" spc="-4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MODEL GRAPH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2115037"/>
            <a:ext cx="8342787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Representasi Graph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Node (Vertex):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* Merepresentasikan game.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Edge: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* Merepresentasikan hubungan antar game.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Hubungan terbentuk berdasarkan: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* Genre yang sama.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* Harga yang mirip.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Contoh: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Minecraft ↔️ Terraria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(Genre Sandbox)</a:t>
            </a:r>
          </a:p>
          <a:p>
            <a:pPr algn="just">
              <a:lnSpc>
                <a:spcPts val="2800"/>
              </a:lnSpc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Terraria ↔️ Stardew Valley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b="true" sz="2000" spc="13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(Harga Berdekatan)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23418" y="-6791361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9776" y="-6838944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414837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74112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39776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13888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586506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05705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453259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141036" y="8372178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95145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64329" y="8372178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572309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-940102" y="3453074"/>
            <a:ext cx="3568101" cy="869319"/>
          </a:xfrm>
          <a:custGeom>
            <a:avLst/>
            <a:gdLst/>
            <a:ahLst/>
            <a:cxnLst/>
            <a:rect r="r" b="b" t="t" l="l"/>
            <a:pathLst>
              <a:path h="869319" w="3568101">
                <a:moveTo>
                  <a:pt x="3568101" y="0"/>
                </a:moveTo>
                <a:lnTo>
                  <a:pt x="0" y="0"/>
                </a:lnTo>
                <a:lnTo>
                  <a:pt x="0" y="869319"/>
                </a:lnTo>
                <a:lnTo>
                  <a:pt x="3568101" y="869319"/>
                </a:lnTo>
                <a:lnTo>
                  <a:pt x="356810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919360" y="3840016"/>
            <a:ext cx="3959812" cy="964754"/>
          </a:xfrm>
          <a:custGeom>
            <a:avLst/>
            <a:gdLst/>
            <a:ahLst/>
            <a:cxnLst/>
            <a:rect r="r" b="b" t="t" l="l"/>
            <a:pathLst>
              <a:path h="964754" w="3959812">
                <a:moveTo>
                  <a:pt x="0" y="0"/>
                </a:moveTo>
                <a:lnTo>
                  <a:pt x="3959812" y="0"/>
                </a:lnTo>
                <a:lnTo>
                  <a:pt x="3959812" y="964755"/>
                </a:lnTo>
                <a:lnTo>
                  <a:pt x="0" y="9647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093" y="1028700"/>
            <a:ext cx="2210639" cy="1000817"/>
          </a:xfrm>
          <a:custGeom>
            <a:avLst/>
            <a:gdLst/>
            <a:ahLst/>
            <a:cxnLst/>
            <a:rect r="r" b="b" t="t" l="l"/>
            <a:pathLst>
              <a:path h="1000817" w="2210639">
                <a:moveTo>
                  <a:pt x="0" y="0"/>
                </a:moveTo>
                <a:lnTo>
                  <a:pt x="2210640" y="0"/>
                </a:lnTo>
                <a:lnTo>
                  <a:pt x="2210640" y="1000817"/>
                </a:lnTo>
                <a:lnTo>
                  <a:pt x="0" y="10008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141541" y="1028700"/>
            <a:ext cx="2210639" cy="1000817"/>
          </a:xfrm>
          <a:custGeom>
            <a:avLst/>
            <a:gdLst/>
            <a:ahLst/>
            <a:cxnLst/>
            <a:rect r="r" b="b" t="t" l="l"/>
            <a:pathLst>
              <a:path h="1000817" w="2210639">
                <a:moveTo>
                  <a:pt x="0" y="0"/>
                </a:moveTo>
                <a:lnTo>
                  <a:pt x="2210639" y="0"/>
                </a:lnTo>
                <a:lnTo>
                  <a:pt x="2210639" y="1000817"/>
                </a:lnTo>
                <a:lnTo>
                  <a:pt x="0" y="10008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935213" y="528292"/>
            <a:ext cx="2210639" cy="1000817"/>
          </a:xfrm>
          <a:custGeom>
            <a:avLst/>
            <a:gdLst/>
            <a:ahLst/>
            <a:cxnLst/>
            <a:rect r="r" b="b" t="t" l="l"/>
            <a:pathLst>
              <a:path h="1000817" w="2210639">
                <a:moveTo>
                  <a:pt x="0" y="0"/>
                </a:moveTo>
                <a:lnTo>
                  <a:pt x="2210640" y="0"/>
                </a:lnTo>
                <a:lnTo>
                  <a:pt x="2210640" y="1000816"/>
                </a:lnTo>
                <a:lnTo>
                  <a:pt x="0" y="10008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048661" y="528292"/>
            <a:ext cx="2210639" cy="1000817"/>
          </a:xfrm>
          <a:custGeom>
            <a:avLst/>
            <a:gdLst/>
            <a:ahLst/>
            <a:cxnLst/>
            <a:rect r="r" b="b" t="t" l="l"/>
            <a:pathLst>
              <a:path h="1000817" w="2210639">
                <a:moveTo>
                  <a:pt x="0" y="0"/>
                </a:moveTo>
                <a:lnTo>
                  <a:pt x="2210639" y="0"/>
                </a:lnTo>
                <a:lnTo>
                  <a:pt x="2210639" y="1000816"/>
                </a:lnTo>
                <a:lnTo>
                  <a:pt x="0" y="10008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104655" y="1210366"/>
            <a:ext cx="8078690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</a:pPr>
            <a:r>
              <a:rPr lang="en-US" sz="4499" spc="-4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ALGORITMA YANG DIGUNAKAN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07806" y="6868343"/>
            <a:ext cx="16072387" cy="1773389"/>
            <a:chOff x="0" y="0"/>
            <a:chExt cx="21429850" cy="23645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1421" cy="2364519"/>
            </a:xfrm>
            <a:custGeom>
              <a:avLst/>
              <a:gdLst/>
              <a:ahLst/>
              <a:cxnLst/>
              <a:rect r="r" b="b" t="t" l="l"/>
              <a:pathLst>
                <a:path h="2364519" w="1371421">
                  <a:moveTo>
                    <a:pt x="0" y="0"/>
                  </a:moveTo>
                  <a:lnTo>
                    <a:pt x="1371421" y="0"/>
                  </a:lnTo>
                  <a:lnTo>
                    <a:pt x="1371421" y="2364519"/>
                  </a:lnTo>
                  <a:lnTo>
                    <a:pt x="0" y="2364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023081" y="0"/>
              <a:ext cx="1371421" cy="2364519"/>
            </a:xfrm>
            <a:custGeom>
              <a:avLst/>
              <a:gdLst/>
              <a:ahLst/>
              <a:cxnLst/>
              <a:rect r="r" b="b" t="t" l="l"/>
              <a:pathLst>
                <a:path h="2364519" w="1371421">
                  <a:moveTo>
                    <a:pt x="0" y="0"/>
                  </a:moveTo>
                  <a:lnTo>
                    <a:pt x="1371421" y="0"/>
                  </a:lnTo>
                  <a:lnTo>
                    <a:pt x="1371421" y="2364519"/>
                  </a:lnTo>
                  <a:lnTo>
                    <a:pt x="0" y="2364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680942" y="0"/>
              <a:ext cx="1371421" cy="2364519"/>
            </a:xfrm>
            <a:custGeom>
              <a:avLst/>
              <a:gdLst/>
              <a:ahLst/>
              <a:cxnLst/>
              <a:rect r="r" b="b" t="t" l="l"/>
              <a:pathLst>
                <a:path h="2364519" w="1371421">
                  <a:moveTo>
                    <a:pt x="0" y="0"/>
                  </a:moveTo>
                  <a:lnTo>
                    <a:pt x="1371421" y="0"/>
                  </a:lnTo>
                  <a:lnTo>
                    <a:pt x="1371421" y="2364519"/>
                  </a:lnTo>
                  <a:lnTo>
                    <a:pt x="0" y="2364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8704024" y="0"/>
              <a:ext cx="1371421" cy="2364519"/>
            </a:xfrm>
            <a:custGeom>
              <a:avLst/>
              <a:gdLst/>
              <a:ahLst/>
              <a:cxnLst/>
              <a:rect r="r" b="b" t="t" l="l"/>
              <a:pathLst>
                <a:path h="2364519" w="1371421">
                  <a:moveTo>
                    <a:pt x="0" y="0"/>
                  </a:moveTo>
                  <a:lnTo>
                    <a:pt x="1371421" y="0"/>
                  </a:lnTo>
                  <a:lnTo>
                    <a:pt x="1371421" y="2364519"/>
                  </a:lnTo>
                  <a:lnTo>
                    <a:pt x="0" y="2364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1358145" y="0"/>
              <a:ext cx="1371421" cy="2364519"/>
            </a:xfrm>
            <a:custGeom>
              <a:avLst/>
              <a:gdLst/>
              <a:ahLst/>
              <a:cxnLst/>
              <a:rect r="r" b="b" t="t" l="l"/>
              <a:pathLst>
                <a:path h="2364519" w="1371421">
                  <a:moveTo>
                    <a:pt x="0" y="0"/>
                  </a:moveTo>
                  <a:lnTo>
                    <a:pt x="1371421" y="0"/>
                  </a:lnTo>
                  <a:lnTo>
                    <a:pt x="1371421" y="2364519"/>
                  </a:lnTo>
                  <a:lnTo>
                    <a:pt x="0" y="2364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4381226" y="0"/>
              <a:ext cx="1371421" cy="2364519"/>
            </a:xfrm>
            <a:custGeom>
              <a:avLst/>
              <a:gdLst/>
              <a:ahLst/>
              <a:cxnLst/>
              <a:rect r="r" b="b" t="t" l="l"/>
              <a:pathLst>
                <a:path h="2364519" w="1371421">
                  <a:moveTo>
                    <a:pt x="0" y="0"/>
                  </a:moveTo>
                  <a:lnTo>
                    <a:pt x="1371421" y="0"/>
                  </a:lnTo>
                  <a:lnTo>
                    <a:pt x="1371421" y="2364519"/>
                  </a:lnTo>
                  <a:lnTo>
                    <a:pt x="0" y="2364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7035347" y="0"/>
              <a:ext cx="1371421" cy="2364519"/>
            </a:xfrm>
            <a:custGeom>
              <a:avLst/>
              <a:gdLst/>
              <a:ahLst/>
              <a:cxnLst/>
              <a:rect r="r" b="b" t="t" l="l"/>
              <a:pathLst>
                <a:path h="2364519" w="1371421">
                  <a:moveTo>
                    <a:pt x="0" y="0"/>
                  </a:moveTo>
                  <a:lnTo>
                    <a:pt x="1371421" y="0"/>
                  </a:lnTo>
                  <a:lnTo>
                    <a:pt x="1371421" y="2364519"/>
                  </a:lnTo>
                  <a:lnTo>
                    <a:pt x="0" y="2364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0058428" y="0"/>
              <a:ext cx="1371421" cy="2364519"/>
            </a:xfrm>
            <a:custGeom>
              <a:avLst/>
              <a:gdLst/>
              <a:ahLst/>
              <a:cxnLst/>
              <a:rect r="r" b="b" t="t" l="l"/>
              <a:pathLst>
                <a:path h="2364519" w="1371421">
                  <a:moveTo>
                    <a:pt x="0" y="0"/>
                  </a:moveTo>
                  <a:lnTo>
                    <a:pt x="1371422" y="0"/>
                  </a:lnTo>
                  <a:lnTo>
                    <a:pt x="1371422" y="2364519"/>
                  </a:lnTo>
                  <a:lnTo>
                    <a:pt x="0" y="2364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4050772" y="3405449"/>
            <a:ext cx="10186457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BFS (Breadth First Search)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Fungsi: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Menelusuri graph berdasarkan genre.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Menemukan kandidat game.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Dijkstra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Fungsi: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Menghitung jarak kemiripan antar game.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Menentukan game yang paling dekat dengan preferensi pengguna.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SAW (Simple Additive Weighting)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Fungsi: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Menghitung skor rekomendasi.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Menentukan ranking akhir game.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92107" y="-5883876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78634" y="-5883876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4" y="0"/>
                </a:lnTo>
                <a:lnTo>
                  <a:pt x="15440684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92337" y="787996"/>
            <a:ext cx="2395833" cy="1084659"/>
          </a:xfrm>
          <a:custGeom>
            <a:avLst/>
            <a:gdLst/>
            <a:ahLst/>
            <a:cxnLst/>
            <a:rect r="r" b="b" t="t" l="l"/>
            <a:pathLst>
              <a:path h="1084659" w="2395833">
                <a:moveTo>
                  <a:pt x="0" y="0"/>
                </a:moveTo>
                <a:lnTo>
                  <a:pt x="2395833" y="0"/>
                </a:lnTo>
                <a:lnTo>
                  <a:pt x="2395833" y="1084658"/>
                </a:lnTo>
                <a:lnTo>
                  <a:pt x="0" y="108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94421" y="787996"/>
            <a:ext cx="2395833" cy="1084659"/>
          </a:xfrm>
          <a:custGeom>
            <a:avLst/>
            <a:gdLst/>
            <a:ahLst/>
            <a:cxnLst/>
            <a:rect r="r" b="b" t="t" l="l"/>
            <a:pathLst>
              <a:path h="1084659" w="2395833">
                <a:moveTo>
                  <a:pt x="0" y="0"/>
                </a:moveTo>
                <a:lnTo>
                  <a:pt x="2395833" y="0"/>
                </a:lnTo>
                <a:lnTo>
                  <a:pt x="2395833" y="1084658"/>
                </a:lnTo>
                <a:lnTo>
                  <a:pt x="0" y="108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3680226" y="3348007"/>
            <a:ext cx="5295397" cy="1290151"/>
          </a:xfrm>
          <a:custGeom>
            <a:avLst/>
            <a:gdLst/>
            <a:ahLst/>
            <a:cxnLst/>
            <a:rect r="r" b="b" t="t" l="l"/>
            <a:pathLst>
              <a:path h="1290151" w="5295397">
                <a:moveTo>
                  <a:pt x="5295396" y="0"/>
                </a:moveTo>
                <a:lnTo>
                  <a:pt x="0" y="0"/>
                </a:lnTo>
                <a:lnTo>
                  <a:pt x="0" y="1290151"/>
                </a:lnTo>
                <a:lnTo>
                  <a:pt x="5295396" y="1290151"/>
                </a:lnTo>
                <a:lnTo>
                  <a:pt x="529539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25606" y="7194287"/>
            <a:ext cx="1318419" cy="2571384"/>
          </a:xfrm>
          <a:custGeom>
            <a:avLst/>
            <a:gdLst/>
            <a:ahLst/>
            <a:cxnLst/>
            <a:rect r="r" b="b" t="t" l="l"/>
            <a:pathLst>
              <a:path h="2571384" w="1318419">
                <a:moveTo>
                  <a:pt x="0" y="0"/>
                </a:moveTo>
                <a:lnTo>
                  <a:pt x="1318419" y="0"/>
                </a:lnTo>
                <a:lnTo>
                  <a:pt x="1318419" y="2571384"/>
                </a:lnTo>
                <a:lnTo>
                  <a:pt x="0" y="25713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793064" y="7902866"/>
            <a:ext cx="885655" cy="1727340"/>
          </a:xfrm>
          <a:custGeom>
            <a:avLst/>
            <a:gdLst/>
            <a:ahLst/>
            <a:cxnLst/>
            <a:rect r="r" b="b" t="t" l="l"/>
            <a:pathLst>
              <a:path h="1727340" w="885655">
                <a:moveTo>
                  <a:pt x="0" y="0"/>
                </a:moveTo>
                <a:lnTo>
                  <a:pt x="885655" y="0"/>
                </a:lnTo>
                <a:lnTo>
                  <a:pt x="885655" y="1727340"/>
                </a:lnTo>
                <a:lnTo>
                  <a:pt x="0" y="172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97489" y="7194287"/>
            <a:ext cx="1318419" cy="2571384"/>
          </a:xfrm>
          <a:custGeom>
            <a:avLst/>
            <a:gdLst/>
            <a:ahLst/>
            <a:cxnLst/>
            <a:rect r="r" b="b" t="t" l="l"/>
            <a:pathLst>
              <a:path h="2571384" w="1318419">
                <a:moveTo>
                  <a:pt x="0" y="0"/>
                </a:moveTo>
                <a:lnTo>
                  <a:pt x="1318419" y="0"/>
                </a:lnTo>
                <a:lnTo>
                  <a:pt x="1318419" y="2571384"/>
                </a:lnTo>
                <a:lnTo>
                  <a:pt x="0" y="25713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64947" y="7902866"/>
            <a:ext cx="885655" cy="1727340"/>
          </a:xfrm>
          <a:custGeom>
            <a:avLst/>
            <a:gdLst/>
            <a:ahLst/>
            <a:cxnLst/>
            <a:rect r="r" b="b" t="t" l="l"/>
            <a:pathLst>
              <a:path h="1727340" w="885655">
                <a:moveTo>
                  <a:pt x="0" y="0"/>
                </a:moveTo>
                <a:lnTo>
                  <a:pt x="885655" y="0"/>
                </a:lnTo>
                <a:lnTo>
                  <a:pt x="885655" y="1727340"/>
                </a:lnTo>
                <a:lnTo>
                  <a:pt x="0" y="172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72877" y="7194287"/>
            <a:ext cx="1318419" cy="2571384"/>
          </a:xfrm>
          <a:custGeom>
            <a:avLst/>
            <a:gdLst/>
            <a:ahLst/>
            <a:cxnLst/>
            <a:rect r="r" b="b" t="t" l="l"/>
            <a:pathLst>
              <a:path h="2571384" w="1318419">
                <a:moveTo>
                  <a:pt x="0" y="0"/>
                </a:moveTo>
                <a:lnTo>
                  <a:pt x="1318418" y="0"/>
                </a:lnTo>
                <a:lnTo>
                  <a:pt x="1318418" y="2571384"/>
                </a:lnTo>
                <a:lnTo>
                  <a:pt x="0" y="25713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140335" y="7902866"/>
            <a:ext cx="885655" cy="1727340"/>
          </a:xfrm>
          <a:custGeom>
            <a:avLst/>
            <a:gdLst/>
            <a:ahLst/>
            <a:cxnLst/>
            <a:rect r="r" b="b" t="t" l="l"/>
            <a:pathLst>
              <a:path h="1727340" w="885655">
                <a:moveTo>
                  <a:pt x="0" y="0"/>
                </a:moveTo>
                <a:lnTo>
                  <a:pt x="885654" y="0"/>
                </a:lnTo>
                <a:lnTo>
                  <a:pt x="885654" y="1727340"/>
                </a:lnTo>
                <a:lnTo>
                  <a:pt x="0" y="172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948264" y="6985424"/>
            <a:ext cx="1318419" cy="2571384"/>
          </a:xfrm>
          <a:custGeom>
            <a:avLst/>
            <a:gdLst/>
            <a:ahLst/>
            <a:cxnLst/>
            <a:rect r="r" b="b" t="t" l="l"/>
            <a:pathLst>
              <a:path h="2571384" w="1318419">
                <a:moveTo>
                  <a:pt x="0" y="0"/>
                </a:moveTo>
                <a:lnTo>
                  <a:pt x="1318419" y="0"/>
                </a:lnTo>
                <a:lnTo>
                  <a:pt x="1318419" y="2571383"/>
                </a:lnTo>
                <a:lnTo>
                  <a:pt x="0" y="25713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815722" y="7694003"/>
            <a:ext cx="885655" cy="1727340"/>
          </a:xfrm>
          <a:custGeom>
            <a:avLst/>
            <a:gdLst/>
            <a:ahLst/>
            <a:cxnLst/>
            <a:rect r="r" b="b" t="t" l="l"/>
            <a:pathLst>
              <a:path h="1727340" w="885655">
                <a:moveTo>
                  <a:pt x="0" y="0"/>
                </a:moveTo>
                <a:lnTo>
                  <a:pt x="885655" y="0"/>
                </a:lnTo>
                <a:lnTo>
                  <a:pt x="885655" y="1727340"/>
                </a:lnTo>
                <a:lnTo>
                  <a:pt x="0" y="172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595077" y="6985424"/>
            <a:ext cx="1318419" cy="2571384"/>
          </a:xfrm>
          <a:custGeom>
            <a:avLst/>
            <a:gdLst/>
            <a:ahLst/>
            <a:cxnLst/>
            <a:rect r="r" b="b" t="t" l="l"/>
            <a:pathLst>
              <a:path h="2571384" w="1318419">
                <a:moveTo>
                  <a:pt x="0" y="0"/>
                </a:moveTo>
                <a:lnTo>
                  <a:pt x="1318419" y="0"/>
                </a:lnTo>
                <a:lnTo>
                  <a:pt x="1318419" y="2571383"/>
                </a:lnTo>
                <a:lnTo>
                  <a:pt x="0" y="25713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462535" y="7829467"/>
            <a:ext cx="885655" cy="1727340"/>
          </a:xfrm>
          <a:custGeom>
            <a:avLst/>
            <a:gdLst/>
            <a:ahLst/>
            <a:cxnLst/>
            <a:rect r="r" b="b" t="t" l="l"/>
            <a:pathLst>
              <a:path h="1727340" w="885655">
                <a:moveTo>
                  <a:pt x="0" y="0"/>
                </a:moveTo>
                <a:lnTo>
                  <a:pt x="885654" y="0"/>
                </a:lnTo>
                <a:lnTo>
                  <a:pt x="885654" y="1727340"/>
                </a:lnTo>
                <a:lnTo>
                  <a:pt x="0" y="172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758110" y="7058822"/>
            <a:ext cx="1318419" cy="2571384"/>
          </a:xfrm>
          <a:custGeom>
            <a:avLst/>
            <a:gdLst/>
            <a:ahLst/>
            <a:cxnLst/>
            <a:rect r="r" b="b" t="t" l="l"/>
            <a:pathLst>
              <a:path h="2571384" w="1318419">
                <a:moveTo>
                  <a:pt x="0" y="0"/>
                </a:moveTo>
                <a:lnTo>
                  <a:pt x="1318418" y="0"/>
                </a:lnTo>
                <a:lnTo>
                  <a:pt x="1318418" y="2571384"/>
                </a:lnTo>
                <a:lnTo>
                  <a:pt x="0" y="25713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09347" y="7767401"/>
            <a:ext cx="885655" cy="1727340"/>
          </a:xfrm>
          <a:custGeom>
            <a:avLst/>
            <a:gdLst/>
            <a:ahLst/>
            <a:cxnLst/>
            <a:rect r="r" b="b" t="t" l="l"/>
            <a:pathLst>
              <a:path h="1727340" w="885655">
                <a:moveTo>
                  <a:pt x="0" y="0"/>
                </a:moveTo>
                <a:lnTo>
                  <a:pt x="885655" y="0"/>
                </a:lnTo>
                <a:lnTo>
                  <a:pt x="885655" y="1727341"/>
                </a:lnTo>
                <a:lnTo>
                  <a:pt x="0" y="1727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586506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805705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453259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141036" y="9244341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195145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764329" y="9244341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572309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488153" y="8152723"/>
            <a:ext cx="5878027" cy="2116090"/>
          </a:xfrm>
          <a:custGeom>
            <a:avLst/>
            <a:gdLst/>
            <a:ahLst/>
            <a:cxnLst/>
            <a:rect r="r" b="b" t="t" l="l"/>
            <a:pathLst>
              <a:path h="2116090" w="5878027">
                <a:moveTo>
                  <a:pt x="0" y="0"/>
                </a:moveTo>
                <a:lnTo>
                  <a:pt x="5878027" y="0"/>
                </a:lnTo>
                <a:lnTo>
                  <a:pt x="5878027" y="2116089"/>
                </a:lnTo>
                <a:lnTo>
                  <a:pt x="0" y="2116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0307270" y="6113510"/>
            <a:ext cx="2745694" cy="4114800"/>
          </a:xfrm>
          <a:custGeom>
            <a:avLst/>
            <a:gdLst/>
            <a:ahLst/>
            <a:cxnLst/>
            <a:rect r="r" b="b" t="t" l="l"/>
            <a:pathLst>
              <a:path h="4114800" w="2745694">
                <a:moveTo>
                  <a:pt x="2745694" y="0"/>
                </a:moveTo>
                <a:lnTo>
                  <a:pt x="0" y="0"/>
                </a:lnTo>
                <a:lnTo>
                  <a:pt x="0" y="4114800"/>
                </a:lnTo>
                <a:lnTo>
                  <a:pt x="2745694" y="4114800"/>
                </a:lnTo>
                <a:lnTo>
                  <a:pt x="2745694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7996892" y="412807"/>
            <a:ext cx="2395833" cy="1084659"/>
          </a:xfrm>
          <a:custGeom>
            <a:avLst/>
            <a:gdLst/>
            <a:ahLst/>
            <a:cxnLst/>
            <a:rect r="r" b="b" t="t" l="l"/>
            <a:pathLst>
              <a:path h="1084659" w="2395833">
                <a:moveTo>
                  <a:pt x="0" y="0"/>
                </a:moveTo>
                <a:lnTo>
                  <a:pt x="2395833" y="0"/>
                </a:lnTo>
                <a:lnTo>
                  <a:pt x="2395833" y="1084659"/>
                </a:lnTo>
                <a:lnTo>
                  <a:pt x="0" y="1084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798976" y="412807"/>
            <a:ext cx="2395833" cy="1084659"/>
          </a:xfrm>
          <a:custGeom>
            <a:avLst/>
            <a:gdLst/>
            <a:ahLst/>
            <a:cxnLst/>
            <a:rect r="r" b="b" t="t" l="l"/>
            <a:pathLst>
              <a:path h="1084659" w="2395833">
                <a:moveTo>
                  <a:pt x="0" y="0"/>
                </a:moveTo>
                <a:lnTo>
                  <a:pt x="2395833" y="0"/>
                </a:lnTo>
                <a:lnTo>
                  <a:pt x="2395833" y="1084659"/>
                </a:lnTo>
                <a:lnTo>
                  <a:pt x="0" y="1084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51397" y="0"/>
            <a:ext cx="3664187" cy="10287000"/>
          </a:xfrm>
          <a:custGeom>
            <a:avLst/>
            <a:gdLst/>
            <a:ahLst/>
            <a:cxnLst/>
            <a:rect r="r" b="b" t="t" l="l"/>
            <a:pathLst>
              <a:path h="10287000" w="3664187">
                <a:moveTo>
                  <a:pt x="0" y="0"/>
                </a:moveTo>
                <a:lnTo>
                  <a:pt x="3664187" y="0"/>
                </a:lnTo>
                <a:lnTo>
                  <a:pt x="36641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01" t="0" r="-101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60308" y="1107605"/>
            <a:ext cx="973268" cy="940248"/>
          </a:xfrm>
          <a:custGeom>
            <a:avLst/>
            <a:gdLst/>
            <a:ahLst/>
            <a:cxnLst/>
            <a:rect r="r" b="b" t="t" l="l"/>
            <a:pathLst>
              <a:path h="940248" w="973268">
                <a:moveTo>
                  <a:pt x="0" y="0"/>
                </a:moveTo>
                <a:lnTo>
                  <a:pt x="973268" y="0"/>
                </a:lnTo>
                <a:lnTo>
                  <a:pt x="973268" y="940247"/>
                </a:lnTo>
                <a:lnTo>
                  <a:pt x="0" y="94024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1755" r="0" b="-1755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60308" y="2123985"/>
            <a:ext cx="973268" cy="940248"/>
          </a:xfrm>
          <a:custGeom>
            <a:avLst/>
            <a:gdLst/>
            <a:ahLst/>
            <a:cxnLst/>
            <a:rect r="r" b="b" t="t" l="l"/>
            <a:pathLst>
              <a:path h="940248" w="973268">
                <a:moveTo>
                  <a:pt x="0" y="0"/>
                </a:moveTo>
                <a:lnTo>
                  <a:pt x="973268" y="0"/>
                </a:lnTo>
                <a:lnTo>
                  <a:pt x="973268" y="940248"/>
                </a:lnTo>
                <a:lnTo>
                  <a:pt x="0" y="94024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1755" r="0" b="-1755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60308" y="3140433"/>
            <a:ext cx="973268" cy="940248"/>
          </a:xfrm>
          <a:custGeom>
            <a:avLst/>
            <a:gdLst/>
            <a:ahLst/>
            <a:cxnLst/>
            <a:rect r="r" b="b" t="t" l="l"/>
            <a:pathLst>
              <a:path h="940248" w="973268">
                <a:moveTo>
                  <a:pt x="0" y="0"/>
                </a:moveTo>
                <a:lnTo>
                  <a:pt x="973268" y="0"/>
                </a:lnTo>
                <a:lnTo>
                  <a:pt x="973268" y="940248"/>
                </a:lnTo>
                <a:lnTo>
                  <a:pt x="0" y="94024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1755" r="0" b="-1755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-2810104" y="8112220"/>
            <a:ext cx="5878027" cy="2116090"/>
          </a:xfrm>
          <a:custGeom>
            <a:avLst/>
            <a:gdLst/>
            <a:ahLst/>
            <a:cxnLst/>
            <a:rect r="r" b="b" t="t" l="l"/>
            <a:pathLst>
              <a:path h="2116090" w="5878027">
                <a:moveTo>
                  <a:pt x="0" y="0"/>
                </a:moveTo>
                <a:lnTo>
                  <a:pt x="5878028" y="0"/>
                </a:lnTo>
                <a:lnTo>
                  <a:pt x="5878028" y="2116090"/>
                </a:lnTo>
                <a:lnTo>
                  <a:pt x="0" y="211609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12708" y="4156881"/>
            <a:ext cx="973268" cy="940248"/>
          </a:xfrm>
          <a:custGeom>
            <a:avLst/>
            <a:gdLst/>
            <a:ahLst/>
            <a:cxnLst/>
            <a:rect r="r" b="b" t="t" l="l"/>
            <a:pathLst>
              <a:path h="940248" w="973268">
                <a:moveTo>
                  <a:pt x="0" y="0"/>
                </a:moveTo>
                <a:lnTo>
                  <a:pt x="973268" y="0"/>
                </a:lnTo>
                <a:lnTo>
                  <a:pt x="973268" y="940248"/>
                </a:lnTo>
                <a:lnTo>
                  <a:pt x="0" y="94024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1755" r="0" b="-1755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12708" y="5173262"/>
            <a:ext cx="973268" cy="940248"/>
          </a:xfrm>
          <a:custGeom>
            <a:avLst/>
            <a:gdLst/>
            <a:ahLst/>
            <a:cxnLst/>
            <a:rect r="r" b="b" t="t" l="l"/>
            <a:pathLst>
              <a:path h="940248" w="973268">
                <a:moveTo>
                  <a:pt x="0" y="0"/>
                </a:moveTo>
                <a:lnTo>
                  <a:pt x="973268" y="0"/>
                </a:lnTo>
                <a:lnTo>
                  <a:pt x="973268" y="940248"/>
                </a:lnTo>
                <a:lnTo>
                  <a:pt x="0" y="94024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1755" r="0" b="-1755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560308" y="6254039"/>
            <a:ext cx="10371001" cy="940248"/>
            <a:chOff x="0" y="0"/>
            <a:chExt cx="13828002" cy="12536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97691" cy="1253664"/>
            </a:xfrm>
            <a:custGeom>
              <a:avLst/>
              <a:gdLst/>
              <a:ahLst/>
              <a:cxnLst/>
              <a:rect r="r" b="b" t="t" l="l"/>
              <a:pathLst>
                <a:path h="1253664" w="1297691">
                  <a:moveTo>
                    <a:pt x="0" y="0"/>
                  </a:moveTo>
                  <a:lnTo>
                    <a:pt x="1297691" y="0"/>
                  </a:lnTo>
                  <a:lnTo>
                    <a:pt x="1297691" y="1253664"/>
                  </a:lnTo>
                  <a:lnTo>
                    <a:pt x="0" y="1253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-1755" r="0" b="-175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304392" y="447378"/>
              <a:ext cx="688908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0"/>
                </a:lnSpc>
              </a:pPr>
              <a:r>
                <a:rPr lang="en-US" sz="1800" spc="-19">
                  <a:solidFill>
                    <a:srgbClr val="FFFFFF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6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573184" y="187624"/>
              <a:ext cx="12254818" cy="792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SAW menghitung skor akhir.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60308" y="7212475"/>
            <a:ext cx="10371001" cy="940248"/>
            <a:chOff x="0" y="0"/>
            <a:chExt cx="13828002" cy="12536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97691" cy="1253664"/>
            </a:xfrm>
            <a:custGeom>
              <a:avLst/>
              <a:gdLst/>
              <a:ahLst/>
              <a:cxnLst/>
              <a:rect r="r" b="b" t="t" l="l"/>
              <a:pathLst>
                <a:path h="1253664" w="1297691">
                  <a:moveTo>
                    <a:pt x="0" y="0"/>
                  </a:moveTo>
                  <a:lnTo>
                    <a:pt x="1297691" y="0"/>
                  </a:lnTo>
                  <a:lnTo>
                    <a:pt x="1297691" y="1253664"/>
                  </a:lnTo>
                  <a:lnTo>
                    <a:pt x="0" y="1253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-1755" r="0" b="-175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304392" y="447378"/>
              <a:ext cx="688908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0"/>
                </a:lnSpc>
              </a:pPr>
              <a:r>
                <a:rPr lang="en-US" sz="1800" spc="-19">
                  <a:solidFill>
                    <a:srgbClr val="FFFFFF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7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573184" y="187624"/>
              <a:ext cx="12254818" cy="792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Sistem menampilkan ranking rekomendasi.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560308" y="225808"/>
            <a:ext cx="709624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99"/>
              </a:lnSpc>
            </a:pPr>
            <a:r>
              <a:rPr lang="en-US" sz="3999" spc="-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ALUR SISTEM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88602" y="1431231"/>
            <a:ext cx="516681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</a:pPr>
            <a:r>
              <a:rPr lang="en-US" sz="1800" spc="-1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1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88602" y="2447612"/>
            <a:ext cx="516681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</a:pPr>
            <a:r>
              <a:rPr lang="en-US" sz="1800" spc="-1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88602" y="3464060"/>
            <a:ext cx="516681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</a:pPr>
            <a:r>
              <a:rPr lang="en-US" sz="1800" spc="-1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740196" y="1262321"/>
            <a:ext cx="919111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 memilih genre.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40196" y="2170304"/>
            <a:ext cx="919111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 menentukan rentang harga.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740196" y="3259720"/>
            <a:ext cx="919111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BFS mencari kandidat game.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41002" y="4480508"/>
            <a:ext cx="516681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</a:pPr>
            <a:r>
              <a:rPr lang="en-US" sz="1800" spc="-1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4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41002" y="5496889"/>
            <a:ext cx="516681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</a:pPr>
            <a:r>
              <a:rPr lang="en-US" sz="1800" spc="-1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5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892596" y="4311598"/>
            <a:ext cx="919111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Filter harga dijalankan.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892596" y="5219581"/>
            <a:ext cx="9191113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Dijkstra menghitung kemiripan.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23418" y="-6761205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57794" y="25462"/>
            <a:ext cx="3361135" cy="1521678"/>
          </a:xfrm>
          <a:custGeom>
            <a:avLst/>
            <a:gdLst/>
            <a:ahLst/>
            <a:cxnLst/>
            <a:rect r="r" b="b" t="t" l="l"/>
            <a:pathLst>
              <a:path h="1521678" w="3361135">
                <a:moveTo>
                  <a:pt x="0" y="0"/>
                </a:moveTo>
                <a:lnTo>
                  <a:pt x="3361136" y="0"/>
                </a:lnTo>
                <a:lnTo>
                  <a:pt x="3361136" y="1521678"/>
                </a:lnTo>
                <a:lnTo>
                  <a:pt x="0" y="15216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229688"/>
            <a:ext cx="2830378" cy="1281389"/>
          </a:xfrm>
          <a:custGeom>
            <a:avLst/>
            <a:gdLst/>
            <a:ahLst/>
            <a:cxnLst/>
            <a:rect r="r" b="b" t="t" l="l"/>
            <a:pathLst>
              <a:path h="1281389" w="2830378">
                <a:moveTo>
                  <a:pt x="0" y="0"/>
                </a:moveTo>
                <a:lnTo>
                  <a:pt x="2830378" y="0"/>
                </a:lnTo>
                <a:lnTo>
                  <a:pt x="2830378" y="1281389"/>
                </a:lnTo>
                <a:lnTo>
                  <a:pt x="0" y="12813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92521" y="-6958121"/>
            <a:ext cx="15973642" cy="15973642"/>
          </a:xfrm>
          <a:custGeom>
            <a:avLst/>
            <a:gdLst/>
            <a:ahLst/>
            <a:cxnLst/>
            <a:rect r="r" b="b" t="t" l="l"/>
            <a:pathLst>
              <a:path h="15973642" w="15973642">
                <a:moveTo>
                  <a:pt x="0" y="0"/>
                </a:moveTo>
                <a:lnTo>
                  <a:pt x="15973642" y="0"/>
                </a:lnTo>
                <a:lnTo>
                  <a:pt x="15973642" y="15973642"/>
                </a:lnTo>
                <a:lnTo>
                  <a:pt x="0" y="159736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9414837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74112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39776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13888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586506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53259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95145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572309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031113" y="8372178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89418" y="7875150"/>
            <a:ext cx="3226307" cy="1531029"/>
          </a:xfrm>
          <a:custGeom>
            <a:avLst/>
            <a:gdLst/>
            <a:ahLst/>
            <a:cxnLst/>
            <a:rect r="r" b="b" t="t" l="l"/>
            <a:pathLst>
              <a:path h="1531029" w="3226307">
                <a:moveTo>
                  <a:pt x="0" y="0"/>
                </a:moveTo>
                <a:lnTo>
                  <a:pt x="3226308" y="0"/>
                </a:lnTo>
                <a:lnTo>
                  <a:pt x="3226308" y="1531030"/>
                </a:lnTo>
                <a:lnTo>
                  <a:pt x="0" y="1531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904603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133413" y="7917676"/>
            <a:ext cx="3226307" cy="1531029"/>
          </a:xfrm>
          <a:custGeom>
            <a:avLst/>
            <a:gdLst/>
            <a:ahLst/>
            <a:cxnLst/>
            <a:rect r="r" b="b" t="t" l="l"/>
            <a:pathLst>
              <a:path h="1531029" w="3226307">
                <a:moveTo>
                  <a:pt x="0" y="0"/>
                </a:moveTo>
                <a:lnTo>
                  <a:pt x="3226307" y="0"/>
                </a:lnTo>
                <a:lnTo>
                  <a:pt x="3226307" y="1531030"/>
                </a:lnTo>
                <a:lnTo>
                  <a:pt x="0" y="1531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786600" y="8372178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950636" y="7913963"/>
            <a:ext cx="3226307" cy="1531029"/>
          </a:xfrm>
          <a:custGeom>
            <a:avLst/>
            <a:gdLst/>
            <a:ahLst/>
            <a:cxnLst/>
            <a:rect r="r" b="b" t="t" l="l"/>
            <a:pathLst>
              <a:path h="1531029" w="3226307">
                <a:moveTo>
                  <a:pt x="0" y="0"/>
                </a:moveTo>
                <a:lnTo>
                  <a:pt x="3226307" y="0"/>
                </a:lnTo>
                <a:lnTo>
                  <a:pt x="3226307" y="1531030"/>
                </a:lnTo>
                <a:lnTo>
                  <a:pt x="0" y="1531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166876" y="546323"/>
            <a:ext cx="3959812" cy="964754"/>
          </a:xfrm>
          <a:custGeom>
            <a:avLst/>
            <a:gdLst/>
            <a:ahLst/>
            <a:cxnLst/>
            <a:rect r="r" b="b" t="t" l="l"/>
            <a:pathLst>
              <a:path h="964754" w="3959812">
                <a:moveTo>
                  <a:pt x="0" y="0"/>
                </a:moveTo>
                <a:lnTo>
                  <a:pt x="3959812" y="0"/>
                </a:lnTo>
                <a:lnTo>
                  <a:pt x="3959812" y="964754"/>
                </a:lnTo>
                <a:lnTo>
                  <a:pt x="0" y="9647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790853" y="7354043"/>
            <a:ext cx="1110693" cy="2036271"/>
          </a:xfrm>
          <a:custGeom>
            <a:avLst/>
            <a:gdLst/>
            <a:ahLst/>
            <a:cxnLst/>
            <a:rect r="r" b="b" t="t" l="l"/>
            <a:pathLst>
              <a:path h="2036271" w="1110693">
                <a:moveTo>
                  <a:pt x="0" y="0"/>
                </a:moveTo>
                <a:lnTo>
                  <a:pt x="1110693" y="0"/>
                </a:lnTo>
                <a:lnTo>
                  <a:pt x="1110693" y="2036271"/>
                </a:lnTo>
                <a:lnTo>
                  <a:pt x="0" y="203627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230448" y="145606"/>
            <a:ext cx="2830378" cy="1281389"/>
          </a:xfrm>
          <a:custGeom>
            <a:avLst/>
            <a:gdLst/>
            <a:ahLst/>
            <a:cxnLst/>
            <a:rect r="r" b="b" t="t" l="l"/>
            <a:pathLst>
              <a:path h="1281389" w="2830378">
                <a:moveTo>
                  <a:pt x="0" y="0"/>
                </a:moveTo>
                <a:lnTo>
                  <a:pt x="2830378" y="0"/>
                </a:lnTo>
                <a:lnTo>
                  <a:pt x="2830378" y="1281389"/>
                </a:lnTo>
                <a:lnTo>
                  <a:pt x="0" y="12813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044400" y="7181788"/>
            <a:ext cx="1007891" cy="2208526"/>
          </a:xfrm>
          <a:custGeom>
            <a:avLst/>
            <a:gdLst/>
            <a:ahLst/>
            <a:cxnLst/>
            <a:rect r="r" b="b" t="t" l="l"/>
            <a:pathLst>
              <a:path h="2208526" w="1007891">
                <a:moveTo>
                  <a:pt x="0" y="0"/>
                </a:moveTo>
                <a:lnTo>
                  <a:pt x="1007891" y="0"/>
                </a:lnTo>
                <a:lnTo>
                  <a:pt x="1007891" y="2208526"/>
                </a:lnTo>
                <a:lnTo>
                  <a:pt x="0" y="220852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551726" y="2849780"/>
            <a:ext cx="11731078" cy="137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</a:pPr>
            <a:r>
              <a:rPr lang="en-US" sz="8000" spc="-88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DEMO SISTEM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69784" y="4269251"/>
            <a:ext cx="1260252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</a:pPr>
            <a:r>
              <a:rPr lang="en-US" sz="4499" spc="-4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PINDAH APLIKASI KEJAP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54895" y="-8437553"/>
            <a:ext cx="18198895" cy="18198895"/>
          </a:xfrm>
          <a:custGeom>
            <a:avLst/>
            <a:gdLst/>
            <a:ahLst/>
            <a:cxnLst/>
            <a:rect r="r" b="b" t="t" l="l"/>
            <a:pathLst>
              <a:path h="18198895" w="18198895">
                <a:moveTo>
                  <a:pt x="0" y="0"/>
                </a:moveTo>
                <a:lnTo>
                  <a:pt x="18198895" y="0"/>
                </a:lnTo>
                <a:lnTo>
                  <a:pt x="18198895" y="18198895"/>
                </a:lnTo>
                <a:lnTo>
                  <a:pt x="0" y="181988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28760" y="-7355945"/>
            <a:ext cx="17125944" cy="17125944"/>
          </a:xfrm>
          <a:custGeom>
            <a:avLst/>
            <a:gdLst/>
            <a:ahLst/>
            <a:cxnLst/>
            <a:rect r="r" b="b" t="t" l="l"/>
            <a:pathLst>
              <a:path h="17125944" w="17125944">
                <a:moveTo>
                  <a:pt x="0" y="0"/>
                </a:moveTo>
                <a:lnTo>
                  <a:pt x="17125944" y="0"/>
                </a:lnTo>
                <a:lnTo>
                  <a:pt x="17125944" y="17125944"/>
                </a:lnTo>
                <a:lnTo>
                  <a:pt x="0" y="171259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03174" y="1507247"/>
            <a:ext cx="2012696" cy="911202"/>
          </a:xfrm>
          <a:custGeom>
            <a:avLst/>
            <a:gdLst/>
            <a:ahLst/>
            <a:cxnLst/>
            <a:rect r="r" b="b" t="t" l="l"/>
            <a:pathLst>
              <a:path h="911202" w="2012696">
                <a:moveTo>
                  <a:pt x="0" y="0"/>
                </a:moveTo>
                <a:lnTo>
                  <a:pt x="2012696" y="0"/>
                </a:lnTo>
                <a:lnTo>
                  <a:pt x="2012696" y="911202"/>
                </a:lnTo>
                <a:lnTo>
                  <a:pt x="0" y="911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09522" y="1507247"/>
            <a:ext cx="2012696" cy="911202"/>
          </a:xfrm>
          <a:custGeom>
            <a:avLst/>
            <a:gdLst/>
            <a:ahLst/>
            <a:cxnLst/>
            <a:rect r="r" b="b" t="t" l="l"/>
            <a:pathLst>
              <a:path h="911202" w="2012696">
                <a:moveTo>
                  <a:pt x="0" y="0"/>
                </a:moveTo>
                <a:lnTo>
                  <a:pt x="2012696" y="0"/>
                </a:lnTo>
                <a:lnTo>
                  <a:pt x="2012696" y="911202"/>
                </a:lnTo>
                <a:lnTo>
                  <a:pt x="0" y="911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00266" y="3615310"/>
            <a:ext cx="4334356" cy="1056007"/>
          </a:xfrm>
          <a:custGeom>
            <a:avLst/>
            <a:gdLst/>
            <a:ahLst/>
            <a:cxnLst/>
            <a:rect r="r" b="b" t="t" l="l"/>
            <a:pathLst>
              <a:path h="1056007" w="4334356">
                <a:moveTo>
                  <a:pt x="4334356" y="0"/>
                </a:moveTo>
                <a:lnTo>
                  <a:pt x="0" y="0"/>
                </a:lnTo>
                <a:lnTo>
                  <a:pt x="0" y="1056007"/>
                </a:lnTo>
                <a:lnTo>
                  <a:pt x="4334356" y="1056007"/>
                </a:lnTo>
                <a:lnTo>
                  <a:pt x="433435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25606" y="7194287"/>
            <a:ext cx="1318419" cy="2571384"/>
          </a:xfrm>
          <a:custGeom>
            <a:avLst/>
            <a:gdLst/>
            <a:ahLst/>
            <a:cxnLst/>
            <a:rect r="r" b="b" t="t" l="l"/>
            <a:pathLst>
              <a:path h="2571384" w="1318419">
                <a:moveTo>
                  <a:pt x="0" y="0"/>
                </a:moveTo>
                <a:lnTo>
                  <a:pt x="1318419" y="0"/>
                </a:lnTo>
                <a:lnTo>
                  <a:pt x="1318419" y="2571384"/>
                </a:lnTo>
                <a:lnTo>
                  <a:pt x="0" y="25713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793064" y="7902866"/>
            <a:ext cx="885655" cy="1727340"/>
          </a:xfrm>
          <a:custGeom>
            <a:avLst/>
            <a:gdLst/>
            <a:ahLst/>
            <a:cxnLst/>
            <a:rect r="r" b="b" t="t" l="l"/>
            <a:pathLst>
              <a:path h="1727340" w="885655">
                <a:moveTo>
                  <a:pt x="0" y="0"/>
                </a:moveTo>
                <a:lnTo>
                  <a:pt x="885655" y="0"/>
                </a:lnTo>
                <a:lnTo>
                  <a:pt x="885655" y="1727340"/>
                </a:lnTo>
                <a:lnTo>
                  <a:pt x="0" y="172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97489" y="7194287"/>
            <a:ext cx="1318419" cy="2571384"/>
          </a:xfrm>
          <a:custGeom>
            <a:avLst/>
            <a:gdLst/>
            <a:ahLst/>
            <a:cxnLst/>
            <a:rect r="r" b="b" t="t" l="l"/>
            <a:pathLst>
              <a:path h="2571384" w="1318419">
                <a:moveTo>
                  <a:pt x="0" y="0"/>
                </a:moveTo>
                <a:lnTo>
                  <a:pt x="1318419" y="0"/>
                </a:lnTo>
                <a:lnTo>
                  <a:pt x="1318419" y="2571384"/>
                </a:lnTo>
                <a:lnTo>
                  <a:pt x="0" y="25713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64947" y="7902866"/>
            <a:ext cx="885655" cy="1727340"/>
          </a:xfrm>
          <a:custGeom>
            <a:avLst/>
            <a:gdLst/>
            <a:ahLst/>
            <a:cxnLst/>
            <a:rect r="r" b="b" t="t" l="l"/>
            <a:pathLst>
              <a:path h="1727340" w="885655">
                <a:moveTo>
                  <a:pt x="0" y="0"/>
                </a:moveTo>
                <a:lnTo>
                  <a:pt x="885655" y="0"/>
                </a:lnTo>
                <a:lnTo>
                  <a:pt x="885655" y="1727340"/>
                </a:lnTo>
                <a:lnTo>
                  <a:pt x="0" y="172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72877" y="7194287"/>
            <a:ext cx="1318419" cy="2571384"/>
          </a:xfrm>
          <a:custGeom>
            <a:avLst/>
            <a:gdLst/>
            <a:ahLst/>
            <a:cxnLst/>
            <a:rect r="r" b="b" t="t" l="l"/>
            <a:pathLst>
              <a:path h="2571384" w="1318419">
                <a:moveTo>
                  <a:pt x="0" y="0"/>
                </a:moveTo>
                <a:lnTo>
                  <a:pt x="1318418" y="0"/>
                </a:lnTo>
                <a:lnTo>
                  <a:pt x="1318418" y="2571384"/>
                </a:lnTo>
                <a:lnTo>
                  <a:pt x="0" y="25713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140335" y="7902866"/>
            <a:ext cx="885655" cy="1727340"/>
          </a:xfrm>
          <a:custGeom>
            <a:avLst/>
            <a:gdLst/>
            <a:ahLst/>
            <a:cxnLst/>
            <a:rect r="r" b="b" t="t" l="l"/>
            <a:pathLst>
              <a:path h="1727340" w="885655">
                <a:moveTo>
                  <a:pt x="0" y="0"/>
                </a:moveTo>
                <a:lnTo>
                  <a:pt x="885654" y="0"/>
                </a:lnTo>
                <a:lnTo>
                  <a:pt x="885654" y="1727340"/>
                </a:lnTo>
                <a:lnTo>
                  <a:pt x="0" y="172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948264" y="6985424"/>
            <a:ext cx="1318419" cy="2571384"/>
          </a:xfrm>
          <a:custGeom>
            <a:avLst/>
            <a:gdLst/>
            <a:ahLst/>
            <a:cxnLst/>
            <a:rect r="r" b="b" t="t" l="l"/>
            <a:pathLst>
              <a:path h="2571384" w="1318419">
                <a:moveTo>
                  <a:pt x="0" y="0"/>
                </a:moveTo>
                <a:lnTo>
                  <a:pt x="1318419" y="0"/>
                </a:lnTo>
                <a:lnTo>
                  <a:pt x="1318419" y="2571383"/>
                </a:lnTo>
                <a:lnTo>
                  <a:pt x="0" y="25713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815722" y="7694003"/>
            <a:ext cx="885655" cy="1727340"/>
          </a:xfrm>
          <a:custGeom>
            <a:avLst/>
            <a:gdLst/>
            <a:ahLst/>
            <a:cxnLst/>
            <a:rect r="r" b="b" t="t" l="l"/>
            <a:pathLst>
              <a:path h="1727340" w="885655">
                <a:moveTo>
                  <a:pt x="0" y="0"/>
                </a:moveTo>
                <a:lnTo>
                  <a:pt x="885655" y="0"/>
                </a:lnTo>
                <a:lnTo>
                  <a:pt x="885655" y="1727340"/>
                </a:lnTo>
                <a:lnTo>
                  <a:pt x="0" y="172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6953145"/>
            <a:ext cx="1318419" cy="2571384"/>
          </a:xfrm>
          <a:custGeom>
            <a:avLst/>
            <a:gdLst/>
            <a:ahLst/>
            <a:cxnLst/>
            <a:rect r="r" b="b" t="t" l="l"/>
            <a:pathLst>
              <a:path h="2571384" w="1318419">
                <a:moveTo>
                  <a:pt x="0" y="0"/>
                </a:moveTo>
                <a:lnTo>
                  <a:pt x="1318419" y="0"/>
                </a:lnTo>
                <a:lnTo>
                  <a:pt x="1318419" y="2571383"/>
                </a:lnTo>
                <a:lnTo>
                  <a:pt x="0" y="25713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67458" y="7661724"/>
            <a:ext cx="885655" cy="1727340"/>
          </a:xfrm>
          <a:custGeom>
            <a:avLst/>
            <a:gdLst/>
            <a:ahLst/>
            <a:cxnLst/>
            <a:rect r="r" b="b" t="t" l="l"/>
            <a:pathLst>
              <a:path h="1727340" w="885655">
                <a:moveTo>
                  <a:pt x="0" y="0"/>
                </a:moveTo>
                <a:lnTo>
                  <a:pt x="885654" y="0"/>
                </a:lnTo>
                <a:lnTo>
                  <a:pt x="885654" y="1727340"/>
                </a:lnTo>
                <a:lnTo>
                  <a:pt x="0" y="172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586506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805705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453259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141036" y="9244341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195145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764329" y="9244341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572309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629919" y="1194916"/>
            <a:ext cx="2022065" cy="915444"/>
          </a:xfrm>
          <a:custGeom>
            <a:avLst/>
            <a:gdLst/>
            <a:ahLst/>
            <a:cxnLst/>
            <a:rect r="r" b="b" t="t" l="l"/>
            <a:pathLst>
              <a:path h="915444" w="2022065">
                <a:moveTo>
                  <a:pt x="0" y="0"/>
                </a:moveTo>
                <a:lnTo>
                  <a:pt x="2022065" y="0"/>
                </a:lnTo>
                <a:lnTo>
                  <a:pt x="2022065" y="915444"/>
                </a:lnTo>
                <a:lnTo>
                  <a:pt x="0" y="915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618886" y="1194916"/>
            <a:ext cx="2022065" cy="915444"/>
          </a:xfrm>
          <a:custGeom>
            <a:avLst/>
            <a:gdLst/>
            <a:ahLst/>
            <a:cxnLst/>
            <a:rect r="r" b="b" t="t" l="l"/>
            <a:pathLst>
              <a:path h="915444" w="2022065">
                <a:moveTo>
                  <a:pt x="0" y="0"/>
                </a:moveTo>
                <a:lnTo>
                  <a:pt x="2022065" y="0"/>
                </a:lnTo>
                <a:lnTo>
                  <a:pt x="2022065" y="915444"/>
                </a:lnTo>
                <a:lnTo>
                  <a:pt x="0" y="915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28700" y="6172200"/>
            <a:ext cx="5453349" cy="4114800"/>
          </a:xfrm>
          <a:custGeom>
            <a:avLst/>
            <a:gdLst/>
            <a:ahLst/>
            <a:cxnLst/>
            <a:rect r="r" b="b" t="t" l="l"/>
            <a:pathLst>
              <a:path h="4114800" w="5453349">
                <a:moveTo>
                  <a:pt x="0" y="0"/>
                </a:moveTo>
                <a:lnTo>
                  <a:pt x="5453349" y="0"/>
                </a:lnTo>
                <a:lnTo>
                  <a:pt x="54533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007638" y="1738863"/>
            <a:ext cx="7757821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Contoh Pengujian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Genre = RPG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Harga = Gratis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Output: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Wuthering Waves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Blue Archive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Limbus Company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Hasil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Sistem berhasil memfilter game sesuai genre.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Sistem berhasil memfilter berdasarkan harga.</a:t>
            </a:r>
          </a:p>
          <a:p>
            <a:pPr algn="just">
              <a:lnSpc>
                <a:spcPts val="2800"/>
              </a:lnSpc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Ranking rekomendasi berhasil dihasilkan menggunakan SAW.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spc="13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Hasil rekomendasi sesuai dengan preferensi pengguna.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776129" y="1028700"/>
            <a:ext cx="2395833" cy="1084659"/>
          </a:xfrm>
          <a:custGeom>
            <a:avLst/>
            <a:gdLst/>
            <a:ahLst/>
            <a:cxnLst/>
            <a:rect r="r" b="b" t="t" l="l"/>
            <a:pathLst>
              <a:path h="1084659" w="2395833">
                <a:moveTo>
                  <a:pt x="0" y="0"/>
                </a:moveTo>
                <a:lnTo>
                  <a:pt x="2395833" y="0"/>
                </a:lnTo>
                <a:lnTo>
                  <a:pt x="2395833" y="1084659"/>
                </a:lnTo>
                <a:lnTo>
                  <a:pt x="0" y="1084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8338425" y="671363"/>
            <a:ext cx="709624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</a:pPr>
            <a:r>
              <a:rPr lang="en-US" sz="3999" spc="-43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HASIL ANALISIS</a:t>
            </a:r>
          </a:p>
        </p:txBody>
      </p:sp>
      <p:sp>
        <p:nvSpPr>
          <p:cNvPr name="Freeform 30" id="30"/>
          <p:cNvSpPr/>
          <p:nvPr/>
        </p:nvSpPr>
        <p:spPr>
          <a:xfrm flipH="true" flipV="false" rot="0">
            <a:off x="16655040" y="2418449"/>
            <a:ext cx="5295397" cy="1290151"/>
          </a:xfrm>
          <a:custGeom>
            <a:avLst/>
            <a:gdLst/>
            <a:ahLst/>
            <a:cxnLst/>
            <a:rect r="r" b="b" t="t" l="l"/>
            <a:pathLst>
              <a:path h="1290151" w="5295397">
                <a:moveTo>
                  <a:pt x="5295397" y="0"/>
                </a:moveTo>
                <a:lnTo>
                  <a:pt x="0" y="0"/>
                </a:lnTo>
                <a:lnTo>
                  <a:pt x="0" y="1290152"/>
                </a:lnTo>
                <a:lnTo>
                  <a:pt x="5295397" y="1290152"/>
                </a:lnTo>
                <a:lnTo>
                  <a:pt x="52953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23418" y="-6791361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757794" y="25462"/>
            <a:ext cx="3361135" cy="1521678"/>
          </a:xfrm>
          <a:custGeom>
            <a:avLst/>
            <a:gdLst/>
            <a:ahLst/>
            <a:cxnLst/>
            <a:rect r="r" b="b" t="t" l="l"/>
            <a:pathLst>
              <a:path h="1521678" w="3361135">
                <a:moveTo>
                  <a:pt x="0" y="1521678"/>
                </a:moveTo>
                <a:lnTo>
                  <a:pt x="3361136" y="1521678"/>
                </a:lnTo>
                <a:lnTo>
                  <a:pt x="3361136" y="0"/>
                </a:lnTo>
                <a:lnTo>
                  <a:pt x="0" y="0"/>
                </a:lnTo>
                <a:lnTo>
                  <a:pt x="0" y="152167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1781" y="288286"/>
            <a:ext cx="2830378" cy="1281389"/>
          </a:xfrm>
          <a:custGeom>
            <a:avLst/>
            <a:gdLst/>
            <a:ahLst/>
            <a:cxnLst/>
            <a:rect r="r" b="b" t="t" l="l"/>
            <a:pathLst>
              <a:path h="1281389" w="2830378">
                <a:moveTo>
                  <a:pt x="0" y="0"/>
                </a:moveTo>
                <a:lnTo>
                  <a:pt x="2830377" y="0"/>
                </a:lnTo>
                <a:lnTo>
                  <a:pt x="2830377" y="1281389"/>
                </a:lnTo>
                <a:lnTo>
                  <a:pt x="0" y="12813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39776" y="-6838944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9414837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74112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39776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13888" y="9423285"/>
            <a:ext cx="4574112" cy="873240"/>
          </a:xfrm>
          <a:custGeom>
            <a:avLst/>
            <a:gdLst/>
            <a:ahLst/>
            <a:cxnLst/>
            <a:rect r="r" b="b" t="t" l="l"/>
            <a:pathLst>
              <a:path h="873240" w="4574112">
                <a:moveTo>
                  <a:pt x="0" y="0"/>
                </a:moveTo>
                <a:lnTo>
                  <a:pt x="4574112" y="0"/>
                </a:lnTo>
                <a:lnTo>
                  <a:pt x="4574112" y="873240"/>
                </a:lnTo>
                <a:lnTo>
                  <a:pt x="0" y="873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586506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53259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95145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572309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031113" y="8372178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89418" y="7875150"/>
            <a:ext cx="3226307" cy="1531029"/>
          </a:xfrm>
          <a:custGeom>
            <a:avLst/>
            <a:gdLst/>
            <a:ahLst/>
            <a:cxnLst/>
            <a:rect r="r" b="b" t="t" l="l"/>
            <a:pathLst>
              <a:path h="1531029" w="3226307">
                <a:moveTo>
                  <a:pt x="0" y="0"/>
                </a:moveTo>
                <a:lnTo>
                  <a:pt x="3226308" y="0"/>
                </a:lnTo>
                <a:lnTo>
                  <a:pt x="3226308" y="1531030"/>
                </a:lnTo>
                <a:lnTo>
                  <a:pt x="0" y="1531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93668" y="364852"/>
            <a:ext cx="1278288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</a:pPr>
            <a:r>
              <a:rPr lang="en-US" sz="4499" spc="-4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KENDALA DAN SOLUSI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04050" y="1708684"/>
            <a:ext cx="973268" cy="940248"/>
            <a:chOff x="0" y="0"/>
            <a:chExt cx="1297691" cy="12536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97691" cy="1253664"/>
            </a:xfrm>
            <a:custGeom>
              <a:avLst/>
              <a:gdLst/>
              <a:ahLst/>
              <a:cxnLst/>
              <a:rect r="r" b="b" t="t" l="l"/>
              <a:pathLst>
                <a:path h="1253664" w="1297691">
                  <a:moveTo>
                    <a:pt x="0" y="0"/>
                  </a:moveTo>
                  <a:lnTo>
                    <a:pt x="1297691" y="0"/>
                  </a:lnTo>
                  <a:lnTo>
                    <a:pt x="1297691" y="1253664"/>
                  </a:lnTo>
                  <a:lnTo>
                    <a:pt x="0" y="1253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-1755" r="0" b="-175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304392" y="447378"/>
              <a:ext cx="688908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0"/>
                </a:lnSpc>
              </a:pPr>
              <a:r>
                <a:rPr lang="en-US" sz="1800" spc="-19">
                  <a:solidFill>
                    <a:srgbClr val="FFFFFF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1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904603" y="1854375"/>
            <a:ext cx="702562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Dataset game masih terbatas.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23655" y="3000550"/>
            <a:ext cx="973268" cy="940248"/>
            <a:chOff x="0" y="0"/>
            <a:chExt cx="1297691" cy="12536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97691" cy="1253664"/>
            </a:xfrm>
            <a:custGeom>
              <a:avLst/>
              <a:gdLst/>
              <a:ahLst/>
              <a:cxnLst/>
              <a:rect r="r" b="b" t="t" l="l"/>
              <a:pathLst>
                <a:path h="1253664" w="1297691">
                  <a:moveTo>
                    <a:pt x="0" y="0"/>
                  </a:moveTo>
                  <a:lnTo>
                    <a:pt x="1297691" y="0"/>
                  </a:lnTo>
                  <a:lnTo>
                    <a:pt x="1297691" y="1253664"/>
                  </a:lnTo>
                  <a:lnTo>
                    <a:pt x="0" y="1253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-1755" r="0" b="-175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304392" y="447378"/>
              <a:ext cx="688908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0"/>
                </a:lnSpc>
              </a:pPr>
              <a:r>
                <a:rPr lang="en-US" sz="1800" spc="-19">
                  <a:solidFill>
                    <a:srgbClr val="FFFFFF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912080" y="3201304"/>
            <a:ext cx="557733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Penentuan bobot SAW membutuhkan penyesuaian.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612224" y="1593577"/>
            <a:ext cx="973268" cy="940248"/>
          </a:xfrm>
          <a:custGeom>
            <a:avLst/>
            <a:gdLst/>
            <a:ahLst/>
            <a:cxnLst/>
            <a:rect r="r" b="b" t="t" l="l"/>
            <a:pathLst>
              <a:path h="940248" w="973268">
                <a:moveTo>
                  <a:pt x="0" y="0"/>
                </a:moveTo>
                <a:lnTo>
                  <a:pt x="973268" y="0"/>
                </a:lnTo>
                <a:lnTo>
                  <a:pt x="973268" y="940248"/>
                </a:lnTo>
                <a:lnTo>
                  <a:pt x="0" y="9402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1755" r="0" b="-1755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840518" y="1917204"/>
            <a:ext cx="516681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</a:pPr>
            <a:r>
              <a:rPr lang="en-US" sz="1800" spc="-1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792112" y="1800983"/>
            <a:ext cx="557733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Menambah jumlah data game.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732619" y="3000550"/>
            <a:ext cx="973268" cy="940248"/>
          </a:xfrm>
          <a:custGeom>
            <a:avLst/>
            <a:gdLst/>
            <a:ahLst/>
            <a:cxnLst/>
            <a:rect r="r" b="b" t="t" l="l"/>
            <a:pathLst>
              <a:path h="940248" w="973268">
                <a:moveTo>
                  <a:pt x="0" y="0"/>
                </a:moveTo>
                <a:lnTo>
                  <a:pt x="973268" y="0"/>
                </a:lnTo>
                <a:lnTo>
                  <a:pt x="973268" y="940248"/>
                </a:lnTo>
                <a:lnTo>
                  <a:pt x="0" y="9402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1755" r="0" b="-1755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960912" y="3324177"/>
            <a:ext cx="516681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</a:pPr>
            <a:r>
              <a:rPr lang="en-US" sz="1800" spc="-1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12506" y="3161299"/>
            <a:ext cx="5577338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Menyesuaikan bobot berdasarkan pengujian.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904603" y="8380836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133413" y="7917676"/>
            <a:ext cx="3226307" cy="1531029"/>
          </a:xfrm>
          <a:custGeom>
            <a:avLst/>
            <a:gdLst/>
            <a:ahLst/>
            <a:cxnLst/>
            <a:rect r="r" b="b" t="t" l="l"/>
            <a:pathLst>
              <a:path h="1531029" w="3226307">
                <a:moveTo>
                  <a:pt x="0" y="0"/>
                </a:moveTo>
                <a:lnTo>
                  <a:pt x="3226307" y="0"/>
                </a:lnTo>
                <a:lnTo>
                  <a:pt x="3226307" y="1531030"/>
                </a:lnTo>
                <a:lnTo>
                  <a:pt x="0" y="1531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786600" y="8372178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950636" y="7913963"/>
            <a:ext cx="3226307" cy="1531029"/>
          </a:xfrm>
          <a:custGeom>
            <a:avLst/>
            <a:gdLst/>
            <a:ahLst/>
            <a:cxnLst/>
            <a:rect r="r" b="b" t="t" l="l"/>
            <a:pathLst>
              <a:path h="1531029" w="3226307">
                <a:moveTo>
                  <a:pt x="0" y="0"/>
                </a:moveTo>
                <a:lnTo>
                  <a:pt x="3226307" y="0"/>
                </a:lnTo>
                <a:lnTo>
                  <a:pt x="3226307" y="1531030"/>
                </a:lnTo>
                <a:lnTo>
                  <a:pt x="0" y="15310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166876" y="546323"/>
            <a:ext cx="3959812" cy="964754"/>
          </a:xfrm>
          <a:custGeom>
            <a:avLst/>
            <a:gdLst/>
            <a:ahLst/>
            <a:cxnLst/>
            <a:rect r="r" b="b" t="t" l="l"/>
            <a:pathLst>
              <a:path h="964754" w="3959812">
                <a:moveTo>
                  <a:pt x="0" y="0"/>
                </a:moveTo>
                <a:lnTo>
                  <a:pt x="3959812" y="0"/>
                </a:lnTo>
                <a:lnTo>
                  <a:pt x="3959812" y="964754"/>
                </a:lnTo>
                <a:lnTo>
                  <a:pt x="0" y="96475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920420" y="7600159"/>
            <a:ext cx="1008298" cy="1848546"/>
          </a:xfrm>
          <a:custGeom>
            <a:avLst/>
            <a:gdLst/>
            <a:ahLst/>
            <a:cxnLst/>
            <a:rect r="r" b="b" t="t" l="l"/>
            <a:pathLst>
              <a:path h="1848546" w="1008298">
                <a:moveTo>
                  <a:pt x="0" y="0"/>
                </a:moveTo>
                <a:lnTo>
                  <a:pt x="1008298" y="0"/>
                </a:lnTo>
                <a:lnTo>
                  <a:pt x="1008298" y="1848547"/>
                </a:lnTo>
                <a:lnTo>
                  <a:pt x="0" y="184854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723655" y="4293223"/>
            <a:ext cx="973268" cy="940248"/>
            <a:chOff x="0" y="0"/>
            <a:chExt cx="1297691" cy="12536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97691" cy="1253664"/>
            </a:xfrm>
            <a:custGeom>
              <a:avLst/>
              <a:gdLst/>
              <a:ahLst/>
              <a:cxnLst/>
              <a:rect r="r" b="b" t="t" l="l"/>
              <a:pathLst>
                <a:path h="1253664" w="1297691">
                  <a:moveTo>
                    <a:pt x="0" y="0"/>
                  </a:moveTo>
                  <a:lnTo>
                    <a:pt x="1297691" y="0"/>
                  </a:lnTo>
                  <a:lnTo>
                    <a:pt x="1297691" y="1253664"/>
                  </a:lnTo>
                  <a:lnTo>
                    <a:pt x="0" y="1253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-1755" r="0" b="-175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304392" y="447378"/>
              <a:ext cx="688908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0"/>
                </a:lnSpc>
              </a:pPr>
              <a:r>
                <a:rPr lang="en-US" sz="1800" spc="-19">
                  <a:solidFill>
                    <a:srgbClr val="FFFFFF"/>
                  </a:solidFill>
                  <a:latin typeface="Press Start 2P"/>
                  <a:ea typeface="Press Start 2P"/>
                  <a:cs typeface="Press Start 2P"/>
                  <a:sym typeface="Press Start 2P"/>
                </a:rPr>
                <a:t>3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904603" y="4473975"/>
            <a:ext cx="5577338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Visualisasi graph menjadi kompleks ketika jumlah node bertambah.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9885019" y="4407523"/>
            <a:ext cx="973268" cy="940248"/>
          </a:xfrm>
          <a:custGeom>
            <a:avLst/>
            <a:gdLst/>
            <a:ahLst/>
            <a:cxnLst/>
            <a:rect r="r" b="b" t="t" l="l"/>
            <a:pathLst>
              <a:path h="940248" w="973268">
                <a:moveTo>
                  <a:pt x="0" y="0"/>
                </a:moveTo>
                <a:lnTo>
                  <a:pt x="973268" y="0"/>
                </a:lnTo>
                <a:lnTo>
                  <a:pt x="973268" y="940248"/>
                </a:lnTo>
                <a:lnTo>
                  <a:pt x="0" y="9402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1755" r="0" b="-1755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0113312" y="4731150"/>
            <a:ext cx="516681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</a:pPr>
            <a:r>
              <a:rPr lang="en-US" sz="1800" spc="-1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064906" y="4568272"/>
            <a:ext cx="5577338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Menggunakan clustering atau filter graph agar visualisasi lebih jelas.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23418" y="-6791361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9776" y="-6838944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97583" y="1028700"/>
            <a:ext cx="2012696" cy="911202"/>
          </a:xfrm>
          <a:custGeom>
            <a:avLst/>
            <a:gdLst/>
            <a:ahLst/>
            <a:cxnLst/>
            <a:rect r="r" b="b" t="t" l="l"/>
            <a:pathLst>
              <a:path h="911202" w="2012696">
                <a:moveTo>
                  <a:pt x="0" y="0"/>
                </a:moveTo>
                <a:lnTo>
                  <a:pt x="2012696" y="0"/>
                </a:lnTo>
                <a:lnTo>
                  <a:pt x="2012696" y="911202"/>
                </a:lnTo>
                <a:lnTo>
                  <a:pt x="0" y="911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4691235" y="1028700"/>
            <a:ext cx="2012696" cy="911202"/>
          </a:xfrm>
          <a:custGeom>
            <a:avLst/>
            <a:gdLst/>
            <a:ahLst/>
            <a:cxnLst/>
            <a:rect r="r" b="b" t="t" l="l"/>
            <a:pathLst>
              <a:path h="911202" w="2012696">
                <a:moveTo>
                  <a:pt x="2012696" y="0"/>
                </a:moveTo>
                <a:lnTo>
                  <a:pt x="0" y="0"/>
                </a:lnTo>
                <a:lnTo>
                  <a:pt x="0" y="911202"/>
                </a:lnTo>
                <a:lnTo>
                  <a:pt x="2012696" y="911202"/>
                </a:lnTo>
                <a:lnTo>
                  <a:pt x="201269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975070" y="2360645"/>
            <a:ext cx="3456196" cy="842055"/>
          </a:xfrm>
          <a:custGeom>
            <a:avLst/>
            <a:gdLst/>
            <a:ahLst/>
            <a:cxnLst/>
            <a:rect r="r" b="b" t="t" l="l"/>
            <a:pathLst>
              <a:path h="842055" w="3456196">
                <a:moveTo>
                  <a:pt x="3456196" y="0"/>
                </a:moveTo>
                <a:lnTo>
                  <a:pt x="0" y="0"/>
                </a:lnTo>
                <a:lnTo>
                  <a:pt x="0" y="842055"/>
                </a:lnTo>
                <a:lnTo>
                  <a:pt x="3456196" y="842055"/>
                </a:lnTo>
                <a:lnTo>
                  <a:pt x="345619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25606" y="7194287"/>
            <a:ext cx="1318419" cy="2571384"/>
          </a:xfrm>
          <a:custGeom>
            <a:avLst/>
            <a:gdLst/>
            <a:ahLst/>
            <a:cxnLst/>
            <a:rect r="r" b="b" t="t" l="l"/>
            <a:pathLst>
              <a:path h="2571384" w="1318419">
                <a:moveTo>
                  <a:pt x="0" y="0"/>
                </a:moveTo>
                <a:lnTo>
                  <a:pt x="1318419" y="0"/>
                </a:lnTo>
                <a:lnTo>
                  <a:pt x="1318419" y="2571384"/>
                </a:lnTo>
                <a:lnTo>
                  <a:pt x="0" y="25713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793064" y="7902866"/>
            <a:ext cx="885655" cy="1727340"/>
          </a:xfrm>
          <a:custGeom>
            <a:avLst/>
            <a:gdLst/>
            <a:ahLst/>
            <a:cxnLst/>
            <a:rect r="r" b="b" t="t" l="l"/>
            <a:pathLst>
              <a:path h="1727340" w="885655">
                <a:moveTo>
                  <a:pt x="0" y="0"/>
                </a:moveTo>
                <a:lnTo>
                  <a:pt x="885655" y="0"/>
                </a:lnTo>
                <a:lnTo>
                  <a:pt x="885655" y="1727340"/>
                </a:lnTo>
                <a:lnTo>
                  <a:pt x="0" y="172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97489" y="7194287"/>
            <a:ext cx="1318419" cy="2571384"/>
          </a:xfrm>
          <a:custGeom>
            <a:avLst/>
            <a:gdLst/>
            <a:ahLst/>
            <a:cxnLst/>
            <a:rect r="r" b="b" t="t" l="l"/>
            <a:pathLst>
              <a:path h="2571384" w="1318419">
                <a:moveTo>
                  <a:pt x="0" y="0"/>
                </a:moveTo>
                <a:lnTo>
                  <a:pt x="1318419" y="0"/>
                </a:lnTo>
                <a:lnTo>
                  <a:pt x="1318419" y="2571384"/>
                </a:lnTo>
                <a:lnTo>
                  <a:pt x="0" y="25713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464947" y="7902866"/>
            <a:ext cx="885655" cy="1727340"/>
          </a:xfrm>
          <a:custGeom>
            <a:avLst/>
            <a:gdLst/>
            <a:ahLst/>
            <a:cxnLst/>
            <a:rect r="r" b="b" t="t" l="l"/>
            <a:pathLst>
              <a:path h="1727340" w="885655">
                <a:moveTo>
                  <a:pt x="0" y="0"/>
                </a:moveTo>
                <a:lnTo>
                  <a:pt x="885655" y="0"/>
                </a:lnTo>
                <a:lnTo>
                  <a:pt x="885655" y="1727340"/>
                </a:lnTo>
                <a:lnTo>
                  <a:pt x="0" y="172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72877" y="7194287"/>
            <a:ext cx="1318419" cy="2571384"/>
          </a:xfrm>
          <a:custGeom>
            <a:avLst/>
            <a:gdLst/>
            <a:ahLst/>
            <a:cxnLst/>
            <a:rect r="r" b="b" t="t" l="l"/>
            <a:pathLst>
              <a:path h="2571384" w="1318419">
                <a:moveTo>
                  <a:pt x="0" y="0"/>
                </a:moveTo>
                <a:lnTo>
                  <a:pt x="1318418" y="0"/>
                </a:lnTo>
                <a:lnTo>
                  <a:pt x="1318418" y="2571384"/>
                </a:lnTo>
                <a:lnTo>
                  <a:pt x="0" y="25713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140335" y="7902866"/>
            <a:ext cx="885655" cy="1727340"/>
          </a:xfrm>
          <a:custGeom>
            <a:avLst/>
            <a:gdLst/>
            <a:ahLst/>
            <a:cxnLst/>
            <a:rect r="r" b="b" t="t" l="l"/>
            <a:pathLst>
              <a:path h="1727340" w="885655">
                <a:moveTo>
                  <a:pt x="0" y="0"/>
                </a:moveTo>
                <a:lnTo>
                  <a:pt x="885654" y="0"/>
                </a:lnTo>
                <a:lnTo>
                  <a:pt x="885654" y="1727340"/>
                </a:lnTo>
                <a:lnTo>
                  <a:pt x="0" y="172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948264" y="6985424"/>
            <a:ext cx="1318419" cy="2571384"/>
          </a:xfrm>
          <a:custGeom>
            <a:avLst/>
            <a:gdLst/>
            <a:ahLst/>
            <a:cxnLst/>
            <a:rect r="r" b="b" t="t" l="l"/>
            <a:pathLst>
              <a:path h="2571384" w="1318419">
                <a:moveTo>
                  <a:pt x="0" y="0"/>
                </a:moveTo>
                <a:lnTo>
                  <a:pt x="1318419" y="0"/>
                </a:lnTo>
                <a:lnTo>
                  <a:pt x="1318419" y="2571383"/>
                </a:lnTo>
                <a:lnTo>
                  <a:pt x="0" y="25713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815722" y="7694003"/>
            <a:ext cx="885655" cy="1727340"/>
          </a:xfrm>
          <a:custGeom>
            <a:avLst/>
            <a:gdLst/>
            <a:ahLst/>
            <a:cxnLst/>
            <a:rect r="r" b="b" t="t" l="l"/>
            <a:pathLst>
              <a:path h="1727340" w="885655">
                <a:moveTo>
                  <a:pt x="0" y="0"/>
                </a:moveTo>
                <a:lnTo>
                  <a:pt x="885655" y="0"/>
                </a:lnTo>
                <a:lnTo>
                  <a:pt x="885655" y="1727340"/>
                </a:lnTo>
                <a:lnTo>
                  <a:pt x="0" y="172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6953145"/>
            <a:ext cx="1318419" cy="2571384"/>
          </a:xfrm>
          <a:custGeom>
            <a:avLst/>
            <a:gdLst/>
            <a:ahLst/>
            <a:cxnLst/>
            <a:rect r="r" b="b" t="t" l="l"/>
            <a:pathLst>
              <a:path h="2571384" w="1318419">
                <a:moveTo>
                  <a:pt x="0" y="0"/>
                </a:moveTo>
                <a:lnTo>
                  <a:pt x="1318419" y="0"/>
                </a:lnTo>
                <a:lnTo>
                  <a:pt x="1318419" y="2571383"/>
                </a:lnTo>
                <a:lnTo>
                  <a:pt x="0" y="25713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67458" y="7661724"/>
            <a:ext cx="885655" cy="1727340"/>
          </a:xfrm>
          <a:custGeom>
            <a:avLst/>
            <a:gdLst/>
            <a:ahLst/>
            <a:cxnLst/>
            <a:rect r="r" b="b" t="t" l="l"/>
            <a:pathLst>
              <a:path h="1727340" w="885655">
                <a:moveTo>
                  <a:pt x="0" y="0"/>
                </a:moveTo>
                <a:lnTo>
                  <a:pt x="885654" y="0"/>
                </a:lnTo>
                <a:lnTo>
                  <a:pt x="885654" y="1727340"/>
                </a:lnTo>
                <a:lnTo>
                  <a:pt x="0" y="172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586506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805705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453259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141036" y="9244341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195145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764329" y="9244341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572309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492158" y="3988802"/>
            <a:ext cx="2022065" cy="915444"/>
          </a:xfrm>
          <a:custGeom>
            <a:avLst/>
            <a:gdLst/>
            <a:ahLst/>
            <a:cxnLst/>
            <a:rect r="r" b="b" t="t" l="l"/>
            <a:pathLst>
              <a:path h="915444" w="2022065">
                <a:moveTo>
                  <a:pt x="0" y="0"/>
                </a:moveTo>
                <a:lnTo>
                  <a:pt x="2022066" y="0"/>
                </a:lnTo>
                <a:lnTo>
                  <a:pt x="2022066" y="915444"/>
                </a:lnTo>
                <a:lnTo>
                  <a:pt x="0" y="915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481126" y="3988802"/>
            <a:ext cx="2022065" cy="915444"/>
          </a:xfrm>
          <a:custGeom>
            <a:avLst/>
            <a:gdLst/>
            <a:ahLst/>
            <a:cxnLst/>
            <a:rect r="r" b="b" t="t" l="l"/>
            <a:pathLst>
              <a:path h="915444" w="2022065">
                <a:moveTo>
                  <a:pt x="0" y="0"/>
                </a:moveTo>
                <a:lnTo>
                  <a:pt x="2022065" y="0"/>
                </a:lnTo>
                <a:lnTo>
                  <a:pt x="2022065" y="915444"/>
                </a:lnTo>
                <a:lnTo>
                  <a:pt x="0" y="915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53028" y="7493924"/>
            <a:ext cx="7315200" cy="2793076"/>
          </a:xfrm>
          <a:custGeom>
            <a:avLst/>
            <a:gdLst/>
            <a:ahLst/>
            <a:cxnLst/>
            <a:rect r="r" b="b" t="t" l="l"/>
            <a:pathLst>
              <a:path h="2793076" w="7315200">
                <a:moveTo>
                  <a:pt x="0" y="0"/>
                </a:moveTo>
                <a:lnTo>
                  <a:pt x="7315200" y="0"/>
                </a:lnTo>
                <a:lnTo>
                  <a:pt x="7315200" y="2793076"/>
                </a:lnTo>
                <a:lnTo>
                  <a:pt x="0" y="27930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380989" y="2786884"/>
            <a:ext cx="6191320" cy="3557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25"/>
              </a:lnSpc>
            </a:pPr>
            <a:r>
              <a:rPr lang="en-US" sz="2018" spc="13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Sistem DSS rekomendasi game berhasil dibangun menggunakan struktur data graph.</a:t>
            </a:r>
          </a:p>
          <a:p>
            <a:pPr algn="just">
              <a:lnSpc>
                <a:spcPts val="2825"/>
              </a:lnSpc>
            </a:pPr>
            <a:r>
              <a:rPr lang="en-US" sz="2018" spc="13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BFS digunakan untuk pencarian kandidat game.</a:t>
            </a:r>
          </a:p>
          <a:p>
            <a:pPr algn="just">
              <a:lnSpc>
                <a:spcPts val="2825"/>
              </a:lnSpc>
            </a:pPr>
            <a:r>
              <a:rPr lang="en-US" sz="2018" spc="13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Dijkstra digunakan untuk menghitung kemiripan antar game.</a:t>
            </a:r>
          </a:p>
          <a:p>
            <a:pPr algn="just">
              <a:lnSpc>
                <a:spcPts val="2825"/>
              </a:lnSpc>
            </a:pPr>
            <a:r>
              <a:rPr lang="en-US" sz="2018" spc="13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SAW digunakan untuk menentukan ranking rekomendasi.</a:t>
            </a:r>
          </a:p>
          <a:p>
            <a:pPr algn="just">
              <a:lnSpc>
                <a:spcPts val="2825"/>
              </a:lnSpc>
              <a:spcBef>
                <a:spcPct val="0"/>
              </a:spcBef>
            </a:pPr>
            <a:r>
              <a:rPr lang="en-US" sz="2018" spc="13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* Sistem mampu memberikan rekomendasi sesuai genre dan rentang harga pengguna.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80989" y="1389051"/>
            <a:ext cx="7096247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999"/>
              </a:lnSpc>
            </a:pPr>
            <a:r>
              <a:rPr lang="en-US" sz="4999" spc="-54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KESIMPULAN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23418" y="-6791361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39776" y="-6838944"/>
            <a:ext cx="15440683" cy="15440683"/>
          </a:xfrm>
          <a:custGeom>
            <a:avLst/>
            <a:gdLst/>
            <a:ahLst/>
            <a:cxnLst/>
            <a:rect r="r" b="b" t="t" l="l"/>
            <a:pathLst>
              <a:path h="15440683" w="15440683">
                <a:moveTo>
                  <a:pt x="0" y="0"/>
                </a:moveTo>
                <a:lnTo>
                  <a:pt x="15440683" y="0"/>
                </a:lnTo>
                <a:lnTo>
                  <a:pt x="15440683" y="15440683"/>
                </a:lnTo>
                <a:lnTo>
                  <a:pt x="0" y="15440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190860" y="4438420"/>
            <a:ext cx="4097140" cy="5327250"/>
          </a:xfrm>
          <a:custGeom>
            <a:avLst/>
            <a:gdLst/>
            <a:ahLst/>
            <a:cxnLst/>
            <a:rect r="r" b="b" t="t" l="l"/>
            <a:pathLst>
              <a:path h="5327250" w="4097140">
                <a:moveTo>
                  <a:pt x="4097140" y="0"/>
                </a:moveTo>
                <a:lnTo>
                  <a:pt x="0" y="0"/>
                </a:lnTo>
                <a:lnTo>
                  <a:pt x="0" y="5327251"/>
                </a:lnTo>
                <a:lnTo>
                  <a:pt x="4097140" y="5327251"/>
                </a:lnTo>
                <a:lnTo>
                  <a:pt x="40971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4438420"/>
            <a:ext cx="4097140" cy="5327250"/>
          </a:xfrm>
          <a:custGeom>
            <a:avLst/>
            <a:gdLst/>
            <a:ahLst/>
            <a:cxnLst/>
            <a:rect r="r" b="b" t="t" l="l"/>
            <a:pathLst>
              <a:path h="5327250" w="4097140">
                <a:moveTo>
                  <a:pt x="0" y="0"/>
                </a:moveTo>
                <a:lnTo>
                  <a:pt x="4097140" y="0"/>
                </a:lnTo>
                <a:lnTo>
                  <a:pt x="4097140" y="5327251"/>
                </a:lnTo>
                <a:lnTo>
                  <a:pt x="0" y="53272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50608" y="7704014"/>
            <a:ext cx="741117" cy="1852793"/>
          </a:xfrm>
          <a:custGeom>
            <a:avLst/>
            <a:gdLst/>
            <a:ahLst/>
            <a:cxnLst/>
            <a:rect r="r" b="b" t="t" l="l"/>
            <a:pathLst>
              <a:path h="1852793" w="741117">
                <a:moveTo>
                  <a:pt x="0" y="0"/>
                </a:moveTo>
                <a:lnTo>
                  <a:pt x="741117" y="0"/>
                </a:lnTo>
                <a:lnTo>
                  <a:pt x="741117" y="1852793"/>
                </a:lnTo>
                <a:lnTo>
                  <a:pt x="0" y="18527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29245" y="8207848"/>
            <a:ext cx="741117" cy="1852793"/>
          </a:xfrm>
          <a:custGeom>
            <a:avLst/>
            <a:gdLst/>
            <a:ahLst/>
            <a:cxnLst/>
            <a:rect r="r" b="b" t="t" l="l"/>
            <a:pathLst>
              <a:path h="1852793" w="741117">
                <a:moveTo>
                  <a:pt x="0" y="0"/>
                </a:moveTo>
                <a:lnTo>
                  <a:pt x="741117" y="0"/>
                </a:lnTo>
                <a:lnTo>
                  <a:pt x="741117" y="1852793"/>
                </a:lnTo>
                <a:lnTo>
                  <a:pt x="0" y="18527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08487" y="7704014"/>
            <a:ext cx="741117" cy="1852793"/>
          </a:xfrm>
          <a:custGeom>
            <a:avLst/>
            <a:gdLst/>
            <a:ahLst/>
            <a:cxnLst/>
            <a:rect r="r" b="b" t="t" l="l"/>
            <a:pathLst>
              <a:path h="1852793" w="741117">
                <a:moveTo>
                  <a:pt x="0" y="0"/>
                </a:moveTo>
                <a:lnTo>
                  <a:pt x="741117" y="0"/>
                </a:lnTo>
                <a:lnTo>
                  <a:pt x="741117" y="1852793"/>
                </a:lnTo>
                <a:lnTo>
                  <a:pt x="0" y="18527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38396" y="7704014"/>
            <a:ext cx="741117" cy="1852793"/>
          </a:xfrm>
          <a:custGeom>
            <a:avLst/>
            <a:gdLst/>
            <a:ahLst/>
            <a:cxnLst/>
            <a:rect r="r" b="b" t="t" l="l"/>
            <a:pathLst>
              <a:path h="1852793" w="741117">
                <a:moveTo>
                  <a:pt x="0" y="0"/>
                </a:moveTo>
                <a:lnTo>
                  <a:pt x="741117" y="0"/>
                </a:lnTo>
                <a:lnTo>
                  <a:pt x="741117" y="1852793"/>
                </a:lnTo>
                <a:lnTo>
                  <a:pt x="0" y="18527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017033" y="8207848"/>
            <a:ext cx="741117" cy="1852793"/>
          </a:xfrm>
          <a:custGeom>
            <a:avLst/>
            <a:gdLst/>
            <a:ahLst/>
            <a:cxnLst/>
            <a:rect r="r" b="b" t="t" l="l"/>
            <a:pathLst>
              <a:path h="1852793" w="741117">
                <a:moveTo>
                  <a:pt x="0" y="0"/>
                </a:moveTo>
                <a:lnTo>
                  <a:pt x="741117" y="0"/>
                </a:lnTo>
                <a:lnTo>
                  <a:pt x="741117" y="1852793"/>
                </a:lnTo>
                <a:lnTo>
                  <a:pt x="0" y="18527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996275" y="7704014"/>
            <a:ext cx="741117" cy="1852793"/>
          </a:xfrm>
          <a:custGeom>
            <a:avLst/>
            <a:gdLst/>
            <a:ahLst/>
            <a:cxnLst/>
            <a:rect r="r" b="b" t="t" l="l"/>
            <a:pathLst>
              <a:path h="1852793" w="741117">
                <a:moveTo>
                  <a:pt x="0" y="0"/>
                </a:moveTo>
                <a:lnTo>
                  <a:pt x="741117" y="0"/>
                </a:lnTo>
                <a:lnTo>
                  <a:pt x="741117" y="1852793"/>
                </a:lnTo>
                <a:lnTo>
                  <a:pt x="0" y="18527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586506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805705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453259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141036" y="9244341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195145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764329" y="9244341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2"/>
                </a:lnTo>
                <a:lnTo>
                  <a:pt x="0" y="10340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572309" y="9252999"/>
            <a:ext cx="3554379" cy="1034001"/>
          </a:xfrm>
          <a:custGeom>
            <a:avLst/>
            <a:gdLst/>
            <a:ahLst/>
            <a:cxnLst/>
            <a:rect r="r" b="b" t="t" l="l"/>
            <a:pathLst>
              <a:path h="1034001" w="3554379">
                <a:moveTo>
                  <a:pt x="0" y="0"/>
                </a:moveTo>
                <a:lnTo>
                  <a:pt x="3554379" y="0"/>
                </a:lnTo>
                <a:lnTo>
                  <a:pt x="3554379" y="1034001"/>
                </a:lnTo>
                <a:lnTo>
                  <a:pt x="0" y="10340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572860" y="8142790"/>
            <a:ext cx="1142279" cy="2144210"/>
          </a:xfrm>
          <a:custGeom>
            <a:avLst/>
            <a:gdLst/>
            <a:ahLst/>
            <a:cxnLst/>
            <a:rect r="r" b="b" t="t" l="l"/>
            <a:pathLst>
              <a:path h="2144210" w="1142279">
                <a:moveTo>
                  <a:pt x="0" y="0"/>
                </a:moveTo>
                <a:lnTo>
                  <a:pt x="1142280" y="0"/>
                </a:lnTo>
                <a:lnTo>
                  <a:pt x="1142280" y="2144210"/>
                </a:lnTo>
                <a:lnTo>
                  <a:pt x="0" y="21442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252316" y="685518"/>
            <a:ext cx="2213702" cy="1002203"/>
          </a:xfrm>
          <a:custGeom>
            <a:avLst/>
            <a:gdLst/>
            <a:ahLst/>
            <a:cxnLst/>
            <a:rect r="r" b="b" t="t" l="l"/>
            <a:pathLst>
              <a:path h="1002203" w="2213702">
                <a:moveTo>
                  <a:pt x="0" y="0"/>
                </a:moveTo>
                <a:lnTo>
                  <a:pt x="2213702" y="0"/>
                </a:lnTo>
                <a:lnTo>
                  <a:pt x="2213702" y="1002204"/>
                </a:lnTo>
                <a:lnTo>
                  <a:pt x="0" y="10022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1359167" y="685518"/>
            <a:ext cx="2213702" cy="1002203"/>
          </a:xfrm>
          <a:custGeom>
            <a:avLst/>
            <a:gdLst/>
            <a:ahLst/>
            <a:cxnLst/>
            <a:rect r="r" b="b" t="t" l="l"/>
            <a:pathLst>
              <a:path h="1002203" w="2213702">
                <a:moveTo>
                  <a:pt x="0" y="0"/>
                </a:moveTo>
                <a:lnTo>
                  <a:pt x="2213702" y="0"/>
                </a:lnTo>
                <a:lnTo>
                  <a:pt x="2213702" y="1002204"/>
                </a:lnTo>
                <a:lnTo>
                  <a:pt x="0" y="10022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164" y="2816218"/>
            <a:ext cx="4113521" cy="1002203"/>
          </a:xfrm>
          <a:custGeom>
            <a:avLst/>
            <a:gdLst/>
            <a:ahLst/>
            <a:cxnLst/>
            <a:rect r="r" b="b" t="t" l="l"/>
            <a:pathLst>
              <a:path h="1002203" w="4113521">
                <a:moveTo>
                  <a:pt x="4113521" y="0"/>
                </a:moveTo>
                <a:lnTo>
                  <a:pt x="0" y="0"/>
                </a:lnTo>
                <a:lnTo>
                  <a:pt x="0" y="1002203"/>
                </a:lnTo>
                <a:lnTo>
                  <a:pt x="4113521" y="1002203"/>
                </a:lnTo>
                <a:lnTo>
                  <a:pt x="411352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565659" y="550875"/>
            <a:ext cx="4073361" cy="992419"/>
          </a:xfrm>
          <a:custGeom>
            <a:avLst/>
            <a:gdLst/>
            <a:ahLst/>
            <a:cxnLst/>
            <a:rect r="r" b="b" t="t" l="l"/>
            <a:pathLst>
              <a:path h="992419" w="4073361">
                <a:moveTo>
                  <a:pt x="0" y="0"/>
                </a:moveTo>
                <a:lnTo>
                  <a:pt x="4073361" y="0"/>
                </a:lnTo>
                <a:lnTo>
                  <a:pt x="4073361" y="992419"/>
                </a:lnTo>
                <a:lnTo>
                  <a:pt x="0" y="9924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045598" y="2816218"/>
            <a:ext cx="2213702" cy="1002203"/>
          </a:xfrm>
          <a:custGeom>
            <a:avLst/>
            <a:gdLst/>
            <a:ahLst/>
            <a:cxnLst/>
            <a:rect r="r" b="b" t="t" l="l"/>
            <a:pathLst>
              <a:path h="1002203" w="2213702">
                <a:moveTo>
                  <a:pt x="0" y="0"/>
                </a:moveTo>
                <a:lnTo>
                  <a:pt x="2213702" y="0"/>
                </a:lnTo>
                <a:lnTo>
                  <a:pt x="2213702" y="1002203"/>
                </a:lnTo>
                <a:lnTo>
                  <a:pt x="0" y="10022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0">
            <a:off x="13938747" y="2816218"/>
            <a:ext cx="2213702" cy="1002203"/>
          </a:xfrm>
          <a:custGeom>
            <a:avLst/>
            <a:gdLst/>
            <a:ahLst/>
            <a:cxnLst/>
            <a:rect r="r" b="b" t="t" l="l"/>
            <a:pathLst>
              <a:path h="1002203" w="2213702">
                <a:moveTo>
                  <a:pt x="2213702" y="0"/>
                </a:moveTo>
                <a:lnTo>
                  <a:pt x="0" y="0"/>
                </a:lnTo>
                <a:lnTo>
                  <a:pt x="0" y="1002203"/>
                </a:lnTo>
                <a:lnTo>
                  <a:pt x="2213702" y="1002203"/>
                </a:lnTo>
                <a:lnTo>
                  <a:pt x="2213702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595876" y="2603270"/>
            <a:ext cx="7096247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99"/>
              </a:lnSpc>
            </a:pPr>
            <a:r>
              <a:rPr lang="en-US" sz="9999" spc="-10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THANK YOU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349553" y="7699588"/>
            <a:ext cx="1387839" cy="2578755"/>
          </a:xfrm>
          <a:custGeom>
            <a:avLst/>
            <a:gdLst/>
            <a:ahLst/>
            <a:cxnLst/>
            <a:rect r="r" b="b" t="t" l="l"/>
            <a:pathLst>
              <a:path h="2578755" w="1387839">
                <a:moveTo>
                  <a:pt x="0" y="0"/>
                </a:moveTo>
                <a:lnTo>
                  <a:pt x="1387839" y="0"/>
                </a:lnTo>
                <a:lnTo>
                  <a:pt x="1387839" y="2578755"/>
                </a:lnTo>
                <a:lnTo>
                  <a:pt x="0" y="257875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270362" y="7304079"/>
            <a:ext cx="206508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BAGAS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74907" y="7304079"/>
            <a:ext cx="206508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RYAN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51945" y="7304079"/>
            <a:ext cx="206508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MAHESA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111456" y="7278679"/>
            <a:ext cx="2065087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RANDOM</a:t>
            </a:r>
          </a:p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KID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6608986" y="7708245"/>
            <a:ext cx="1387839" cy="2578755"/>
          </a:xfrm>
          <a:custGeom>
            <a:avLst/>
            <a:gdLst/>
            <a:ahLst/>
            <a:cxnLst/>
            <a:rect r="r" b="b" t="t" l="l"/>
            <a:pathLst>
              <a:path h="2578755" w="1387839">
                <a:moveTo>
                  <a:pt x="0" y="0"/>
                </a:moveTo>
                <a:lnTo>
                  <a:pt x="1387839" y="0"/>
                </a:lnTo>
                <a:lnTo>
                  <a:pt x="1387839" y="2578755"/>
                </a:lnTo>
                <a:lnTo>
                  <a:pt x="0" y="257875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290569" y="7699588"/>
            <a:ext cx="1387839" cy="2578755"/>
          </a:xfrm>
          <a:custGeom>
            <a:avLst/>
            <a:gdLst/>
            <a:ahLst/>
            <a:cxnLst/>
            <a:rect r="r" b="b" t="t" l="l"/>
            <a:pathLst>
              <a:path h="2578755" w="1387839">
                <a:moveTo>
                  <a:pt x="0" y="0"/>
                </a:moveTo>
                <a:lnTo>
                  <a:pt x="1387839" y="0"/>
                </a:lnTo>
                <a:lnTo>
                  <a:pt x="1387839" y="2578755"/>
                </a:lnTo>
                <a:lnTo>
                  <a:pt x="0" y="257875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DAHLarJeo48</dc:identifier>
  <dcterms:modified xsi:type="dcterms:W3CDTF">2011-08-01T06:04:30Z</dcterms:modified>
  <cp:revision>1</cp:revision>
  <dc:title>DSS Katalog Rekomendasi Game berdasarkan Genre &amp; Harga</dc:title>
</cp:coreProperties>
</file>